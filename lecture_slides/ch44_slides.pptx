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旁白：各位同学好，本章进入系统级视角《安全验证与系统集成》，全章共 17 页、2 课时，讲授加演示。导览五节按集成、安全监控、容错、评估、测试展开：先看闭环架构与 ROS2 接口，再学碰撞偏离与 AEB 接管机制，然后注入故障验证容错，用指标量化评估，最后以场景覆盖与回归测试收尾，构成完整的安全验证链路。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旁白：本页列出六大学习目标：先理解闭环架构与 ROS2 通信集成，再掌握碰撞、偏离、AEB、接管四类安全监控机制的设计，然后是故障注入与降级策略验证容错，指标体系与 Jerk 分析量化评估，场景覆盖与回归测试的仿真方法论，最后了解 ISO 26262 与 SOTIF 两份安全标准的指导作用。逐条自检即可把握本章主线。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旁白：本页闭环架构自上而下：环境感知层融合 LiDAR、相机与毫米波雷达输出障碍物与车道线，决策规划层从行为决策到运动规划逐级细化，控制执行层用 Stanley/MPC 与 PID/MPC 输出油门制动转向，最后经里程计、IMU、GPS 反馈状态形成闭环。注意闭环二字是核心：执行结果必须反馈回状态估计，各层间通过 ROS2 话题衔接。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旁白：本页汇总三类 ROS2 接口：话题承载高频数据流，表格列出九个关键话题的消息类型、发布订阅关系与频率，例如感知 20Hz、控制 50Hz、里程计 100Hz；服务负责请求响应式控制，动作适合长时任务。记住三类接口的分工原则，设计系统时按数据类型选型，是集成的主要依据。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旁白：本页碰撞检测核心：check_collision 对每个目标按恒定速度模型预测轨迹，计算碰撞时间 TTC，低于阈值发布警告、低于临界阈值触发紧急制动。TTC 阈值三档：安全 3 秒以上、警告小于 2 秒、危险小于 1 秒。最小安全距离公式含相对速度乘反应时间再加停车余量，理解公式各量的实际含义即可掌握。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旁白：本页两个安全机制：偏离检测计算横向偏移与航向误差，超过车道宽度 40% 发警告，累积积分超阈值触发驾驶员接管；AEB 按 TTC 三级渐进制动，2.6 秒预警预填充、1.8 秒制动 60%、0.8 秒全力制动并开双闪。注意三级制动是渐进而非一步到位，表格三列对应触发条件、制动强度与行为，便于记忆。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旁白：本页驾驶员接管机制：状态图显示自动驾驶与手动驾驶之间的切换，触发条件有四类——碰撞风险、系统故障、严重偏离与用户请求，系统自检 OK 后条件恢复。过渡分预警、过渡、移交三阶段逐步降速保持车道。下方说明两份安全标准：ISO 26262 管功能性故障，SOTIF 管性能不足的长尾场景，安全是全流程论证而非单点措施。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旁白：本页传感器故障模拟：表格列出五类典型故障——丢帧、噪声、偏置、完全失效与延迟注入，以及各自的模拟方式、持续时间与影响评估。SensorFaultFactory 用工厂模式按类型创建故障对象，drop、noise、bias、stall、latency 五类与表格一一对应。故障注入的目的不是破坏，而是检验下游看门狗与容错路径真实可用。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旁白：本页延迟注入与降级策略：延迟表显示 50ms 可忽略、500ms 可能失稳、一千毫秒以上完全失稳，LatencyInjector 用一次性 Timer 延后转发消息。降级策略从 Level 0 全功能逐级收缩到 Level 4 安全停车。评分逻辑把各故障加权相加：总分大于等于 5 安全停车、大于等于 3 有限功能、大于等于 1 降级，抓住评分阈值即可设计容错逻辑。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旁白：本页评估指标体系覆盖六个维度：安全看碰撞率、偏离率与平均 TTC，效率看平均速度，舒适性看 Jerk 均方根，可靠性看任务完成率，实时性看规划耗时 95 分位，精度看控制误差 RMSE。表格给出每个指标的公式与理想值，例如碰撞率必须 0%、Jerk 小于 2.0、规划耗时小于 50 毫秒。图为指标可视化示例。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旁白：本页舒适度评估：Jerk 是加速度的变化率，代码中用速度日志差分求加速度再差分求 Jerk，输出均值、最大值、均方根与 95 分位四个统计量。等级划分以 RMS Jerk 为界：小于 1.0 优秀、1 到 2 良好可接受、2 到 4 乘客不适、大于 4 对应急加速急刹车。下方 APE 图为轨迹绝对位姿误差分析示例。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旁白：本页评估报告模板：JSON 结构包含测试标识、场景与天气等元信息、metrics 八项指标、fault_injection 注入参数与 assessment 结论。关键思路是指标结果与注入条件一一对应，例如 5% 丢帧率下控制误差 0.18 米，这样任何结果都能复现验证，是工程化评估的归档规范。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旁白：本页场景覆盖与边界用例：场景按七类保证数量，正常行驶至少 20 个、紧急与交通参与者也至少 15 个，覆盖广度是统计可信的前提。边界用例则重点攻击薄弱环节：感知边界看小目标与遮挡、决策边界看多目标冲突、控制边界看高速急弯与低附着路面、系统边界看负载与崩溃恢复、时序边界看消息乱序与时间戳跳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旁白：本页回归测试与 ScenarioRunner 集成：回归流程先加载场景集再部署栈运行评估，与基线对比输出指标差值，触发条件分层——提交跑快速子集、PR 跑完整测试、夜间构建含故障注入。三条命令行展示单场景、批量与 ROS2 桥接三种运行方式。可复现失败文化强调把失败场景与 bag 录制归档，是最宝贵的集成资产。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旁白：本页按闭环集成、安全监控、容错验证、量化评估、仿真测试五条主线总结：闭环是骨架、三类接口协作；安全监控四件套覆盖碰撞、偏离、AEB 与接管；五类故障注入必须真实触发容错逻辑；降级按评分逐级收缩；八项指标横跨六个维度。最后强调场景即测试用例，多次运行的统计分布比单次成绩更可信。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旁白：本页五道练习题覆盖本章机制：改动 AEB 阈值对比碰撞率与速度、给 LatencyInjector 加正态抖动观察震荡、实现降级评分函数验证组合故障、写 OpenSCENARIO 场景片段触发行人横穿、为指标编写回归检查函数。第三题 Camera 失效加 300 毫秒延迟按评分应进入有限功能级，可对照 P9 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旁白：本页预告下一章：第 45 章综合项目将把全课程所学融为完整的城区自动驾驶系统，综合运用感知、决策、规划、控制各章成果搭建软件栈，在 CARLA 中全流程联调，再应用本章安全监控与故障注入方法做集成验证与演示验收，最终撰写报告汇报答辩，形成学习成果的最终闭环。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本章内容导览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44.1 自动驾驶系统集成：闭环架构与 ROS2 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44.2 安全监控机制：碰撞 / 偏离 / AEB / 接管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44.3 故障注入与容错：故障模拟、延迟注入、降级策略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44.4 性能评估指标：指标体系、Jerk 分析、评估报告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44.5 仿真测试方法论：场景覆盖、边界用例、回归测试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153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理解自动驾驶系统感知-决策-规划-控制闭环架构与 ROS2 接口集成方式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理解感知-决策-规划-控制闭环架构及各模块的 ROS2 通信集成方式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掌握碰撞检测、偏离检测、自动紧急制动（AEB）与驾驶员接管等安全监控机制的设计方法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掌握传感器故障模拟、通信延迟注入与降级策略设计，验证系统容错能力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掌握性能评估指标体系、舒适度 Jerk 分析与评估报告模板等量化评估方法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掌握基于 CARLA 的场景覆盖、边界用例、回归测试与 ScenarioRunner 集成的仿真测试方法论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109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了解 ISO 26262 与 SOTIF 两份安全标准的概念框架及其对本章内容的指导作用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24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44.1.1 感知→决策→规划→控制闭环架构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自动驾驶系统是典型的感知-决策-规划-控制闭环架构，各模块通过 ROS2 通信机制紧密协作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环境感知层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LiDAR / 相机 / 毫米波雷达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感知融合（目标检测 | 语义分割 | 跟踪 | 定位）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决策规划层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行为决策（换道 | 跟车 | 停车 | 避让）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运动规划（全局路径 | 局部路径 | 速度规划）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控制执行层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车辆控制（横向 Stanley/MPC · 纵向 PID/MPC）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执行器（油门 | 制动 | 转向 | 挡位）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反馈闭环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CAN总线 | 里程计 | IMU | GPS → 状态估计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955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闭环工作流程：传感器采集原始数据 → 感知输出障碍物列表、车道线、交通标志 → 行为决策结合路由选择驾驶行为 → 运动规划生成平滑无碰撞轨迹 → 控制模块转换为油门/制动/转向指令 → 车辆执行后经里程计/IMU 反馈实际状态，形成闭环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0138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44.1.2 ROS2 接口汇总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话题承载高频数据流，服务负责请求-响应式控制，动作用于长时任务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话题（Topic）接口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50592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话题名称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发布者 → 订阅者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/perception/objects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Detection3DArray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感知融合 → 决策规划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20Hz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/perception/lanes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LaneletMap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车道检测 → 规划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/perception/traffic_signals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TrafficSignalArray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信号灯检测 → 决策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10Hz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/planning/trajectory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Trajectory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运动规划 → 控制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/planning/behavior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String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行为决策 → 规划/监控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10Hz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/control/cmd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ControlCommand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控制模块 → 车辆接口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/vehicle/odometry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Odometry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 → 所有模块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100Hz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/safety/collision_warning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Bool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安全监控 → 紧急制动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20Hz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/safety/deviation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Float32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安全监控 → 规划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20Hz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21808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服务（Service）接口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：/safety/emergency_brake 触发紧急制动、/control/set_mode 切换自动驾驶/手动模式、/planning/set_destination 设置导航目的地、/vehicle/get_diagnostics 获取车辆诊断信息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20256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动作（Action）接口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：/planning/follow_trajectory 执行轨迹跟踪、/control/park 自动泊车、/safety/emergency_stop 紧急停止序列、/perception/fuse_sensors 传感器融合校准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9187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44.2.1 碰撞检测（Collision Detection）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碰撞检测通过多种信息来源交叉验证，核心指标是碰撞时间 TTC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check_collision(ego_pose, ego_bbox, objects, time_horizon=3.0):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for obj in objects: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预测目标运动轨迹（恒定速度模型）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pred_traj = predict_trajectory(obj, time_horizon)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计算本车与目标的时空交集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ttc = compute_time_to_collision(ego_pose, ego_bbox, pred_traj)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ttc is not None and ttc &lt; SAFETY_TTC_THRESHOLD: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publish_collision_warning(obj.id, ttc, CollisionLevel.WARNING)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if ttc &lt; CRITICAL_TTC_THRESHOLD: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publish_collision_warning(obj.id, ttc, CollisionLevel.CRITICAL)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trigger_emergency_brake()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99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TTC（Time to Collision）阈值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：安全 ≥ 3.0s；警告 &lt; 2.0s；危险 &lt; 1.0s（触发紧急制动）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126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最小安全距离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：d_min = v_rel * t_reaction + d_stop（相对速度 × 反应时间 + 停车余量）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25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44.2.2 偏离检测与 44.2.3 自动紧急制动（AEB）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偏离检测监控规划质量，AEB 按 TTC 分三级渐进制动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偏离检测核心逻辑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：计算横向偏移与航向误差，横向偏移超过车道宽度 40% 即发布警告；累积偏离积分超阈值则触发驾驶员接管（trigger_driver_handover("严重车道偏离")）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AEB 三级制动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45643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触发条件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制动强度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行为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Level 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TTC &lt; 2.6s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预警 + 预填充制动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Level 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TTC &lt; 1.8s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60%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部分制动 + 安全带预紧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Level 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TTC &lt; 0.8s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全力制动 + 双闪开启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82803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AEB 控制循环：get_min_ttc() 取当前最小 TTC，按 0.8s / 1.8s / 2.6s 三档发布制动指令；Level 3 保持当前转向并同时开启双闪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338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44.2.4 驾驶员接管（Driver Handover）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接管机制确保系统失效时安全移交控制权，过渡分三个阶段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┌─────────────┐    接管控件条件    ┌─────────────┐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自动驾驶状态  │ ──────────────→  │  手动驾驶状态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(ADS Active) │                   │   (Manual)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└─────────────┘                   └─────────────┘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↑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│   条件恢复(系统自检OK)           │ 触发条件: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└────────────────────────────────┘  ① 碰撞风险(TTC&lt;0.5s)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   ② 系统故障(感知丢失&gt;500ms)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   ③ 严重偏离(偏离&gt;1.0m)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   ④ 用户主动请求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982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接管过渡三阶段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：预警阶段（0-1s）声光警报提示准备接管 → 过渡阶段（1-3s）逐渐降低车速、保持车道 → 移交完成，系统进入监控模式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1149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ISO 26262 关注「电子电气系统功能性故障」（对应失效安全状态机）；ISO 21448（SOTIF）关注「性能不足」的长尾场景——两者共同确立「安全是从需求、设计、验证到运行监控的全流程论证」</a:t>
            </a:r>
          </a:p>
        </p:txBody>
      </p:sp>
      <p:pic>
        <p:nvPicPr>
          <p:cNvPr id="11" name="Picture 10" descr="ch30_safety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411" y="6117336"/>
            <a:ext cx="2416232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7306056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44.3.1 传感器故障模拟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通过注入典型故障类型，检验下游模块的看门狗与容错路径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故障类型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模拟方式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持续时间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影响评估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感知丢帧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跳过话题发布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100-500ms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跟踪中断，可卡尔曼滤波预测补偿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信号噪声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高斯噪声 (σ=0.1~0.5)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检测精度下降，需自适应阈值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数据偏置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叠加固定偏移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持续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定位漂移，需多传感器校验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完全失效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停止发布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直至恢复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触发降级策略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延迟注入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引入 50-500ms 延时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持续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控制滞后，需补偿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023360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SensorFaultFactory: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create_fault(self, fault_type, sensor_topic):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fault_type == "drop":     return DropFrameFault(sensor_topic, drop_interval=0.1)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elif fault_type == "noise":  return NoiseFault(sensor_topic, stddev=0.3)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elif fault_type == "bias":   return BiasFault(sensor_topic, offset=1.5)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elif fault_type == "stall":  return StallFault(sensor_topic, duration=2.0)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elif fault_type == "latency": return LatencyFault(sensor_topic, delay_ms=200)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881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安全验证与系统集成（P9）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44.3.2 通信延迟注入 与 44.3.3 降级策略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延迟沿控制回路放大风险；检测到故障后按评分执行分级降级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延迟影响分析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5059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延迟时间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控制系统影响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安全风险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50ms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可忽略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100ms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轻微超调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200ms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明显震荡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500ms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失稳可能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1000ms+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完全失稳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极高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44398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延迟注入器 LatencyInjector：订阅 /perception/traffic_signals，按 delay_ms 参数用一次性 Timer 延后转发消息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9824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分级降级策略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：Level 0 全功能运行 → Level 1 感知降级（仅 LiDAR，禁用 Camera）→ Level 2 规划降级（限速 30km/h，禁用自动换道）→ Level 3 控制降级（最小风险策略，靠边停车）→ Level 4 安全停车（立即制动、双闪、请求远程协助）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74827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降级评分逻辑：Camera 失效 +1、LiDAR 失效 +2、延迟 &gt;200ms +1、&gt;500ms +2、定位失效 +3；总分 ≥5 安全停车、≥3 有限功能、≥1 降级、否则正常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754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安全验证与系统集成（P10）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44.4.1 评估指标体系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量化评估覆盖安全、效率、舒适、可靠、实时、精度六个维度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理想值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评估维度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碰撞率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N_collision / N_test × 100%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0%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安全性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路线偏离率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T_deviation / T_total × 100%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5%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平均速度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Σv_i / 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符合限速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效率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舒适度（Jerk）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\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da/dt\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的均方根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任务完成率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N_completed / N_attempted × 100%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&gt; 95%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可靠性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平均TTC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min(TTC) 的平均值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&gt; 3.0s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规划耗时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t_planning 的 95 分位值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50ms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实时性</a:t>
                      </a:r>
                    </a:p>
                  </a:txBody>
                  <a:tcPr marL="50800" marR="50800" marT="12700" marB="12700" anchor="ctr"/>
                </a:tc>
              </a:tr>
              <a:tr h="27432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控制误差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RMSE(trajectory_error)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 0.3m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metrics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046" y="4626864"/>
            <a:ext cx="1870962" cy="15910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自动驾驶系统量化评估指标可视化示例（来源：GitHub）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安全验证与系统集成（P11）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44.4.2 舒适度评估（Jerk 分析）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舒适度用加速度变化率（Jerk）量化，RMS Jerk &lt; 2.0 m/s³ 为可接受上限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compute_comfort_metrics(velocity_log, time_log):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acc = np.diff(velocity_log) / np.diff(time_log)       # 加速度 = 速度变化率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jerk = np.diff(acc) / np.diff(time_log[1:])           # Jerk = 加速度变化率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metrics = {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'mean_jerk': np.mean(np.abs(jerk)),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'max_jerk':  np.max(np.abs(jerk)),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'rms_jerk':  np.sqrt(np.mean(jerk</a:t>
            </a:r>
            <a:r>
              <a:rPr sz="1200" b="1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2)),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'jerk_95th': np.percentile(np.abs(jerk), 95)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9087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Jerk 等级划分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：优秀 RMS Jerk &lt; 1.0 m/s³（舒适如豪华轿车）；良好 1.0-2.0 m/s³（可接受）；一般 2.0-4.0 m/s³（乘客感到不适）；较差 &gt; 4.0 m/s³（对应急加速、急刹车）</a:t>
            </a:r>
          </a:p>
        </p:txBody>
      </p:sp>
      <p:pic>
        <p:nvPicPr>
          <p:cNvPr id="10" name="Picture 9" descr="ap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185" y="5696712"/>
            <a:ext cx="1324684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88543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轨迹绝对位姿误差（APE）分析图示例（来源：GitHub）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2329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安全验证与系统集成（P12）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44.4.3 评估报告模板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评估报告将指标、故障注入记录与结论固化为可归档的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446989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"test_id": "ch44_eval_001",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"scenario": "城市拥堵路段",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"weather": "晴天",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"duration_s": 300,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"metrics": {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"collision_rate": 0.0,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"deviation_rate": 2.3,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"avg_speed_ms": 8.5,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"rms_jerk": 1.2,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"task_completion": true,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"avg_ttc": 4.2,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"planning_latency_ms": 35,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"control_rmse_m": 0.18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},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"fault_injection": {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"lidar_drop_rate": 0.05,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"camera_latency_ms": 150,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"recovery_time_s": 1.2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},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"assessment": "PASS",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"notes": "在5%激光雷达丢帧率下系统表现稳定，控制精度满足要求"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6278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报告同时记录故障注入参数（丢帧率、延迟、恢复时间），使「指标结果」与「注入条件」一一对应，便于复现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341107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安全验证与系统集成（P13）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44.5.1 场景覆盖 与 44.5.2 边界用例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场景按类别保证覆盖数量，边界用例重点攻击系统薄弱环节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基于 CARLA 的场景测试分类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50592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场景类别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测试数量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正常行驶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直行、转弯、跟车、换道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≥ 20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交通参与者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行人横穿、非机动车、动物出现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≥ 15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交通规则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红绿灯、停止线、让行、限速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≥ 10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恶劣天气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雨、雾、雪、夜间、逆光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≥ 10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道路结构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隧道、环岛、匝道、施工区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≥ 10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紧急场景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前车急刹、儿童冲出、抛锚车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≥ 15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故障场景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传感器失效、通信中断、GPS丢失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≥ 10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7731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需要重点覆盖的边界用例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937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感知边界：远距离小目标（&lt; 10 像素）、遮挡目标、反射/眩光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144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决策边界：多目标冲突（同时避让行人和车辆）、无明确路权场景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控制边界：高速急弯、低附着力路面（湿滑/冰雪）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系统边界：高 CPU 负载实时性、内存不足处理、节点崩溃恢复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876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时序边界：消息时序错乱、时间戳跳跃、异步到达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7296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安全验证与系统集成（P14）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44.5.3 回归测试 与 44.5.4 CARLA ScenarioRunner 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把关键场景固化为自动化回归测试，每次代码变更后重放全部历史场景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回归测试流程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：加载场景集（regression_v2.yaml）→ 启动 CARLA 仿真 → 部署自动驾驶栈 → 运行场景 → 评估指标 → 与基线对比，输出通过/失败与指标差值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回归触发条件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：代码提交时 pre-commit hook 运行快速测试子集；PR 创建时运行完整测试集（约 30 分钟）；nightly build 运行全部场景与故障注入（约 2 小时）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「可复现失败」文化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：把「失败场景 + bag 录制 + 复现步骤」归档成 issue——可复现的失败是集成阶段最宝贵的资产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47488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运行单个 OpenSCENARIO 场景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python scenario_runner.py --openscenario scenarios/city_junction.xosc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运行批量测试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python scenario_runner.py --route towns/route_01.xml --reload --output-dir results/ch44_test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与 ROS2 桥接运行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carla_ros_bridge carla_ros_bridge.launch.py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scenario_runner scenario_runner_node.py --scenario ch44_emergency_brake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214616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OpenSCENARIO（ASAM 标准，XML 方言）用「故事板 = 初始条件 + 触发条件 + 动作序列」描述场景，&lt;Storyboard&gt;&lt;Story&gt;&lt;Act&gt;&lt;Maneuver&gt;&lt;Event&gt; 层级编排，是场景化测试的行业通用表达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85130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安全验证与系统集成（P15）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本章要点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从闭环集成、安全监控、容错验证到量化评估与仿真测试，构成完整的安全验证链路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感知-决策-规划-控制闭环是自动驾驶系统集成的骨架，各模块以话题/服务/动作三类 ROS2 接口协作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安全监控四件套：碰撞检测（TTC 阈值分级）、偏离检测（横向偏移 + 累积积分）、AEB 三级制动、驾驶员接管三阶段过渡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故障注入覆盖丢帧、噪声、偏置、失效、延迟五类；容错逻辑必须「在注入实验中真实触发过」才算验证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降级策略按评分分级执行：从仅 LiDAR、限速到靠边停车、安全停车逐级收缩功能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性能评估八项指标横跨安全/效率/舒适/可靠/实时/精度，Jerk 的 RMS 值是舒适度的量化核心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887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回归测试 + ScenarioRunner：场景即测试用例，同一场景多次运行的统计分布比单次成绩更可信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01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安全验证与系统集成（P16）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练习题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试着动手验证与实现本章机制，完成后可与同学互相评审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修改 AEB 控制循环，将三级制动阈值从 2.6s / 1.8s / 0.8s 调整为更保守的取值，并在 CARLA 中复现前车急刹场景，对比碰撞率与平均速度的变化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为 LatencyInjector 增加按正态分布随机抖动的延迟模式，测试 200ms 均值、±50ms 抖动下控制回路是否出现震荡，并记录评估报告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实现 evaluate_degradation 的降级评分函数，构造「Camera 失效 + 延迟 300ms」的组合，验证系统应进入哪一级降级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编写一个 OpenSCENARIO 场景片段：本车以 60 km/h 接近路口时，行人从侧方以 1.4 m/s 横穿，要求在 15m 距离处触发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从评估指标体系中选择三个指标，为它们编写与基线对比的回归检查函数，说明失败时如何输出指标差值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第44章 安全验证与系统集成（P17）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第44章 安全验证与系统集成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## 下章预告：第45章 综合项目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第45章将把全课程所学融为一个完整的自动驾驶综合项目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综合运用感知、决策、规划、控制各章成果，搭建完整自动驾驶软件栈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在 CARLA 仿真环境中完成从建图定位到轨迹跟踪的全流程联调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应用本章的安全监控与故障注入方法，为项目做集成验证与演示验收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撰写项目评估报告并汇报答辩，形成课程学习成果的最终闭环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