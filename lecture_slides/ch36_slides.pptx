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旁白：各位同学好，本章我们正式进入自动驾驶专题。前面打下的 ROS 2 基础从这一章开始要应用到自动驾驶场景中。我们将先建立分级标准与系统架构的全局认识，再动手搭建 CARLA 仿真环境。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旁白：本章六个目标分两条线：前三条是理论线，搞清分级标准、关键概念与三层架构；后三条是实践线，围绕 CARLA 展开环境搭建与 Python API 操作。学完要能独立生成车辆和传感器。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旁白：这张表要纵向看：从 L2 到 L3，环境监控的责任从人转移到系统，这就是分水岭；L4 与 L5 的区别则在运行范围是否受限。请记住"典型场景"一列，考试常结合实际车型出题。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旁白：三个概念是理解分级的技术语言：DDT 说的是驾驶任务本身，ODD 划定系统允许运行的边界，后备机制决定失效时谁接管。L2 与 L3 的本质差异在责任主体，这直接影响传感器冗余设计。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旁白：结合架构图看数据流：感知层融合多传感器输出障碍物与车道，规划层据此生成带速度曲线的轨迹，控制层再把轨迹分解为油门、刹车和转向。三层各自独立发展，又通过标准接口衔接。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旁白：这张截图来自 CARLA 官网。CARLA 的优势在于高保真渲染与完整传感器套件，再加 Traffic Manager 模拟交通流，使我们能在同一环境里复现各种驾驶场景，这也是课程选它作仿真基线的原因。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旁白：版本表强调一条纪律：Python API 与模拟器版本必须完全一致，很多"连不上"的问题其实是版本错配。课程统一使用 0.9.16，安装器会帮大家对齐版本，不要自行混用其他版本。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旁白：安装优先用仓库自带安装器，一条命令完成依赖、CARLA 与 Bridge 的部署。WSL2 用户要特别注意 D3D12 后端这个环境变量。右侧动图是启动成功后的城市场景，服务器就绪后才能连客户端。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旁白：五项检查对应从硬件到软件的链路：先确认 GPU 与 OpenGL 正常，再确认服务器能启动，然后核对 Python 版本、客户端连通性，最后确认磁盘空间。逐项打勾能省掉大量无效排查时间。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旁白：排障表按"现象—原因—对策"组织。最常见的是黑屏、llvmpipe 软渲染和连接超时三类，分别对应驱动问题、D3D12 后端未启用和服务器未启动。遇到报错先对号入座，再按对策处理。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旁白：架构图展示了客户端经 TCP 与服务器交互的全貌。六大概念中 World 是总入口，Blueprint 是生成 Actor 的模板，Sensor 是特殊的 Actor——理解这个定位，后面的代码就好读懂了。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旁白：这段代码是 CARLA 编程的骨架：先建 Client 并设超时，再取 World；从蓝图库找模板、设属性后用 spawn_actor 生成车辆；相机用 attach_to 挂到车上，listen 注册回调收图。建议课后亲手跑一遍。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旁白：地图选择看需求：入门用 Town01，综合测试选 Town03，练变道跑 Town04。注意 load_world 会重新加载场景，之前生成的 Actor 都会清空，切换地图后要重新生成车辆和传感器。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旁白：天气系统有两层用法：预设天气一键切换，适合快速搭场景；逐字段自定义则能精确控制云量、降水、太阳角度等参数。注意太阳高度角取负值代表夜晚，做夜间感知实验时会用到。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旁白：五条要点把本章串成一条线：分级标准给了共同语言，L2/L3 分水岭引出工程意义，三层架构定义了系统骨架，CARLA 则是把骨架跑起来的平台。环境搭建的版本纪律务必牢记。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旁白：四道题分别检验概念辨析、架构理解、动手能力和综合设计。第四题综合了地图加载、天气设置与车辆生成三个知识点，是本章的实战检验，建议在完成环境验证后作答。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旁白：下一章我们把 CARLA 与 ROS 2 连接起来：传感器数据将以话题形式进入 ROS 生态，车辆控制也能从 ROS 侧下发。课后请保持 CARLA 环境可用，并预读第 37 章讲义。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第36章 自动驾驶概述与CARLA基础（2 课时）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第36章 自动驾驶概述与CARLA基础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课程：ROS2 Python 编程 · 课时：2 课时（90 分钟） · 教学方式：讲授 + 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本章路线：自动驾驶技术背景 → SAE 分级与系统架构 → CARLA 仿真平台 → 环境搭建与核心概念 → 世界、地图与天气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分级标准、三层架构、CARLA 核心概念、环境搭建、Python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了解自动驾驶技术的发展历程与 SAE J3016 分级标准（L0–L5）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理解 ODD、DDT 概念，说清 L2 与 L3 的分水岭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掌握自动驾驶「感知→规划→控制」三层架构及各层职责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理解 CARLA 的 World、Map、Actor、Blueprint、Sensor 等核心概念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学会搭建 CARLA 0.9.16 环境并完成安装验证与排障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掌握 Python API 基本用法：生成车辆与传感器、切换地图、控制天气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自动驾驶分级标准：SAE J3016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SAE J3016（2014 年发布）将自动驾驶分为 L0–L5 六级；量产车集中在 L2–L2+，Robotaxi 限定区域达 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SAE International 于 2014 年发布 J3016 标准，已被全球广泛采用：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1518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驾驶操作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环境监控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任务接管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无自动化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驾驶辅助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人类+系统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自适应巡航 ACC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部分自动化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特斯拉 Autopilot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有条件自动化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人类（接管请求）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奥迪 A8 Traffic Jam Pilot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高度自动化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Robotaxi（限定区域）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完全自动化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全场景无人驾驶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634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业界现状：量产车主要集中在 L2–L2+；Waymo、百度 Apollo 等 Robotaxi 在限定区域内达到 L4 水平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76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ODD、DDT 与 L2/L3 分水岭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DDT 动态驾驶任务、ODD 运行设计域、DDT 后备；L3 首次把「责任」从人转移到系统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SAE J3016（2021 修订版）删除了旧版两段式表述，改用三个工程概念精确切分等级：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1518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DDT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动态驾驶任务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横向/纵向控制、OBD（物体与事件探测响应）与对事件的响应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运行设计域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系统运行的限定条件：道路类型、车速区间、天气等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DDT 后备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fallback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DDT 失效时接管的机制：由人还是系统完成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8678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L2/L3 分水岭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不在「谁握着方向盘」，而在「系统承担 DDT 的哪一部分、事故责任如何转移」：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00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L2：驾驶员持续执行 OBD 与后备（环境监控在人）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L3：条件激活时系统执行全部 DDT，驾驶员只做紧急后备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412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工程意义：L3 首次把责任从人转移到系统，直接决定传感器冗余、功能安全与数采方案的设计基准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544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自动驾驶系统架构：感知→规划→控制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感知层多传感器融合、规划层行为决策与运动规划、控制层 PID/MPC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自动驾驶系统通常采用三层架构，自上而下数据流如下：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┌────────────────────────────────────────────────┐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感知层 (Perception)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相机(目标检测)  激光雷达(点云)  毫米波/超声波(距离)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└──── 多传感器融合 ─────┘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输出：障碍物 / 车道 / 信号灯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规划层 (Planning)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行为决策(换道/跟车/停车) → 运动规划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输出：路径 + 速度曲线（轨迹）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 控制层 (Control)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PID / MPC → 油门 / 刹车 / 转向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├────────────────────────────────────────────────┤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    执行机构 (底盘/线控)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967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感知层：摄像头、激光雷达、毫米波雷达、超声波等采集数据，做目标检测、语义分割、深度估计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9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规划层：根据感知结果做行为决策并生成可执行轨迹（路径+速度曲线）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830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控制层：将轨迹转化为油门、刹车、转向信号，经 PID 或 MPC 控制器执行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2511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CARLA 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基于 UE4 的开源自动驾驶仿真器；CVC 研发维护；传感器套件灵活、Python API 完整</a:t>
            </a:r>
          </a:p>
        </p:txBody>
      </p:sp>
      <p:pic>
        <p:nvPicPr>
          <p:cNvPr id="7" name="Picture 6" descr="carl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01952"/>
            <a:ext cx="11094415" cy="34670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60397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CARLA 官网欢迎页：CARLA 是基于 Unreal Engine 4 的开源自动驾驶仿真器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78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CARLA（Car Learning to Act）由巴塞罗那计算机视觉中心（CVC）研发维护，代码托管于 GitHub，社区活跃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2110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基于 UE4 的高保真渲染：逼真的光照、反射和物理效果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94172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灵活传感器套件：RGB 相机、深度相机、语义分割相机、LIDAR、雷达、GNSS、IMU 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654957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内置交通管理器（Traffic Manager）：控制 NPC 车辆行为，模拟真实交通流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3681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提供 Town01–Town12 共 12 种风格场景；可经 carla_ros_bridge 与 ROS 2 无缝对接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0814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版本选型与安装方式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本课程基线 CARLA 0.9.16；Python API 版本必须与模拟器完全一致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发布时间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UE 版本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API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0.9.13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2022.06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UE4.26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0.9.13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历史版本，仅供兼容性对比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0.9.16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0.9.16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本课程基线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0.9.14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2022.12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UE4.27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0.9.14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历史版本，不用于本课程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官方文档明确三种安装方式：预编译版本（binary）、源码编译（source）、Docker 镜像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67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版本匹配纪律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：carla==0.9.x 的 Python API 与模拟器版本必须完全一致，否则报 client is not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00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显卡要求：≥6 GB 显存，推荐 RTX 20 系以上；支持 Linux/Windows 双平台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132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官方《First steps》强调：先确认 CarlaUE4 正常启动渲染窗口，再运行 Python 脚本——客户端连不上时最常见原因是模拟器未就绪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环境搭建（Ubuntu 24.04 / WSL2）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推荐仓库安装器一键安装；WSL2 需 D3D12 后端；先启动服务器再连客户端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推荐使用仓库根目录安装器（同时安装 CARLA 运行库、Python API、图形/无头依赖与固定版本 ROS 2 Bridge）：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15184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cd /path/to/Technologies-of-ROS2-Programming-master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bash setup_course.sh --with-carla        # 完整安装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bash setup_course.sh --carla-bridge-only # Windows 主机跑服务端时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~/.config/ros2-course/env.bash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76472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手动安装要点：apt 安装 libomp5、Vulkan、xvfb 等依赖 → 下载 CARLA 0.9.16 与 AdditionalMaps 并解压到 CARLA 根目录 → 在 venv 中 pip install carla==0.9.16 → 启动 ./CarlaUE4.sh -quality-level=Low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67528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WSL2 下 Intel/AMD GPU 通过 WSLg 的 D3D12 后端运行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export GALLIUM_DRIVER=d3d12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./CarlaUE4.sh -quality-level=Low</a:t>
            </a:r>
          </a:p>
        </p:txBody>
      </p:sp>
      <p:pic>
        <p:nvPicPr>
          <p:cNvPr id="11" name="Picture 10" descr="carla_start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167" y="6327648"/>
            <a:ext cx="195072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751636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CARLA 0.9.16 启动后的城市场景：服务器就绪后方可运行 Python 客户端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863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安装验证清单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五项检查：GPU/OpenGL、服务器启动、Python API 版本、客户端连接、磁盘空间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验证命令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预期结果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GPU驱动/OpenGL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glxinfo -B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显示物理 GPU 或 WSLg D3D12 后端，非 llvmpipe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CARLA服务器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./CarlaUE4.sh -quality-level=Low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UE4 窗口正常显示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API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python3 -c "from importlib.metadata import version; print(version('carla'))"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打印 0.9.16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客户端连接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python3 -c "import carla; c=carla.Client('localhost',2000); c.set_timeout(5); print(c.get_server_version())"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返回服务器版本元组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磁盘空间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df -h ~/carla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可用空间 &gt;10GB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95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逐项通过后再进入开发，可避免后续「连不上、import 失败」的无效排查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15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常见问题与排障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黑屏查驱动与 Vulkan、llvmpipe 查 D3D12、连接超时查服务器与 2000 端口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可能原因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CarlaUE4.sh 启动后黑屏退出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不支持或驱动过低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./CarlaUE4.sh -vulkan 或升级显卡驱动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WSL2 中 OpenGL 显示 llvmpipe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WSLg 未选 D3D12 后端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 export GALLIUM_DRIVER=d3d12 再验证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import carla 失败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包未正确安装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 venv 中 pip install carla==0.9.16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Client.__init__() 连接超时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 服务器未启动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 ./CarlaUE4.sh 已运行，检查端口 2000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UE4 窗口卡死无响应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显存不足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-quality-level=Low 降低画质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AdditionalMaps 不显示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附加地图解压位置不对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解压到 CARLA 根目录（与 CarlaUE4.sh 同级）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libomp5 缺失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缺少 OpenMP 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sudo apt-get install libomp5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245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CARLA 核心概念与模块架构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Server/Client 通过 TCP 相连；World、Map、Actor、Blueprint、Sensor、Traffic Manager 六大概念</a:t>
            </a:r>
          </a:p>
        </p:txBody>
      </p:sp>
      <p:pic>
        <p:nvPicPr>
          <p:cNvPr id="7" name="Picture 6" descr="carla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0"/>
            <a:ext cx="11094415" cy="38137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99705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CARLA 官方模块架构图：客户端经 Python API（TCP）与服务器交互，服务器管理 World 与 Actor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6447177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核心概念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类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World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仿真世界实例，包含地图、天气、Actor 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carla.World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仿真地图：道路网络、交通标志、地形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carla.Map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世界中的动态实体：车辆、行人、传感器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carla.Actor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Blueprint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Actor 的模板/工厂，定义 Actor 属性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carla.ActorBlueprint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特殊 Actor，收集环境数据（相机、LIDAR 等）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carla.Sensor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Traffic Manager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交通流控制器，管理 NPC 车辆行为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carla.TrafficManager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849543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API 基本用法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Client→World→Blueprint→spawn_actor；传感器 attach_to 车辆并用 listen 回调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42854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carla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= carla.Client('localhost', 2000)   # 连接服务器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client.set_timeout(10.0)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 = client.get_world()                 # 获取世界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从蓝图库生成车辆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blueprint_library = world.get_blueprint_library()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vehicle_bp = blueprint_library.find('vehicle.tesla.model3')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spawn_point = world.get_map().get_spawn_points()[0]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vehicle = world.spawn_actor(vehicle_bp, spawn_point)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生成 RGB 相机并附着到车辆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 = blueprint_library.find('sensor.camera.rgb')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camera_bp.set_attribute('image_size_x', '800')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camera_bp.set_attribute('image_size_y', '600')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camera_bp.set_attribute('fov', '90')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 = world.spawn_actor(camera_bp,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carla.Transform(carla.Location(x=1.5, z=2.4)), attach_to=vehicle)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camera.listen(lambda image: image.save_to_disk(f'output/{image.frame:06d}.png'))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vehicle.apply_control(carla.VehicleControl(throttle=0.5, steer=0.0))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154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流程：连接 → 取 World → 找 Blueprint → spawn_actor → sensor.listen 回调 → apply_control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0286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Town 地图类型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Town01–Town12 共 12 张官方地图，风格与用途各异；carla.get_available_maps() 列出全部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简单小镇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直线道路，基础交叉口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入门练习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中型城市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环岛、立交桥，车道多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综合测试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大型城市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大型环岛，多车道高速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高速路测试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城市+高速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多种道路类型混合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完整场景（基础驾驶推荐）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高速公路长廊，多出入口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长距测试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Town07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乡村道路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狭窄道路，无车道线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乡村场景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Town09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市中心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密集建筑，复杂路口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城市挑战</a:t>
                      </a:r>
                    </a:p>
                  </a:txBody>
                  <a:tcPr marL="50800" marR="50800" marT="12700" marB="12700" anchor="ctr"/>
                </a:tc>
              </a:tr>
              <a:tr h="27432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Town10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大城市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天际线，多种建筑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视觉测试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988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官方推荐：Town01/Town05 做基础驾驶测试（路网规整、红绿灯齐备）、Town03 做城市场景、Town04 偏高速变道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切换：client.load_world('Town03')；支持 OpenDRIVE 高精地图导入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253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天气与环境系统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预设天气 + 逐字段自定义；world.set_weather() 生效；参数可做平滑渐变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预设：ClearNoon / CloudyNoon / WetNoon / HardRainNoon / SoftRainNoon ...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world.set_weather(carla.WeatherParameters.ClearNoon)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自定义：雨天黄昏 = 云量 + 降水 + 太阳高度角（黄昏约 5~15 度）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weather = carla.WeatherParameters(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cloudiness=50.0, precipitation=30.0,      # 云量、降水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sun_altitude_angle=10.0, sun_azimuth_angle=180.0,  # 太阳高度/方位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fog_density=5.0, wetness=50.0)            # 雾浓度、路面积水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world.set_weather(weather)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06908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cloudiness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0-100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云层覆盖，0=晴天，100=阴天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precipitation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0-100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降雨强度，0=无雨，100=暴雨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precipitation_deposits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0-100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路面积水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fog_density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0-100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雾浓度，影响能见度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wetness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0-100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路面反光湿润效果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sun_altitude_angle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-90~90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太阳高度角，负值=夜晚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173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天气渐变：按时间步进插值两组参数并循环 set_weather()，即可在 20 秒内从晴天平滑过渡到雨天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830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仿真价值：降雨、夜间、传感器失效都可一键注入——可复现、可切片、可注入故障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2511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全章 5 条核心结论回顾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SAE J3016 将自动驾驶分为 L0–L5 六级；量产车集中于 L2–L2+，Robotaxi 在限定区域达 L4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L2/L3 分水岭在「系统承担 DDT 的哪一部分、事故责任如何转移」：L3 首次把责任从人转移到系统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自动驾驶系统遵循「感知→规划→控制」三层架构：多传感器融合 → 行为决策与运动规划 → PID/MPC 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CARLA 是基于 UE4 的开源仿真器，核心概念为 World、Map、Actor、Blueprint、Sensor、Traffic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环境搭建关键是版本匹配纪律（Python API 与模拟器版本一致）与「先启动服务器、再连客户端」；平台提供 12 种地图与可编程天气系统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4 道题覆盖分级、架构、Blueprint 与场景搭建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简述 SAE J3016 标准中 L2 和 L3 的核心区别。为什么 L3 被认为是自动驾驶技术的重要分水岭？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自动驾驶系统的感知—规划—控制三层架构中，每一层的主要职责是什么？请举例说明各层使用的典型算法。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什么是 CARLA 中的 Blueprint？它与面向对象编程中的「工厂模式」有何关联？请结合代码说明如何使用 Blueprint 生成一辆车辆和一台相机传感器。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假设你需要在 CARLA 的 Town03 地图中搭建一个雨天黄昏的测试场景，请编写相应的 Python 代码实现（包括天气参数设置、地图加载和车辆生成）。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第36章 PPT：自动驾驶概述与CARLA基础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第37章 CARLA_ROS2桥接与车辆部署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第37章：CARLA_ROS2桥接与车辆部署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通过 carla_ros_bridge 把 CARLA 传感器世界接入 ROS 2：/carla/ego_vehicle 与图像话题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在仿真中部署 ego vehicle，打通「CARLA 仿真 ↔ ROS 2 工具链」的数据通路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为后续章节的感知与规划算法实验奠定环境基础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课后建议：按官方《First steps》教程重新走一遍「生成车辆 → 生成传感器 → 设定天气」的最小闭环，建立对官方 API 的第一手感。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