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旁白：同学们好，今天我们进入第41章——多传感器融合定位。前面各章我们分别学习了感知、规划和控制，而定位是它们共同的基石。本章主线是：先对比各类传感器定位方案的优劣，再深入 EKF 的预测-更新结构，然后搭建 LiDAR-IMU-GNSS 松耦合融合系统，最后用 CARLA 真值和 evo 工具完成标准化精度评估。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旁白：这页给出本章六个学习目标，从融合策略概念到 EKF 状态设计，再到工程落地与量化评估。请注意目标的递进关系：先理解为什么融合，再掌握怎么融合，最后学会怎么评价融合得好不好。带着这六个问题听讲，效率会更高。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旁白：这张表从精度、频率、长短期稳定性、环境依赖、成本和主要缺陷六个维度对比四类定位传感器。核心结论是：没有任何一种传感器能在所有场景下可靠工作——GNSS 怕隧道遮挡，IMU 积分发散，LiDAR 在长走廊退化，视觉受光照制约。正因如此，取长补短的融合才是必然选择。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旁白：这页对比三种融合策略：松耦合在状态估计层融合各传感器的位姿输出，紧耦合直接融合伪距、点云特征等原始观测，深耦合则在信号层面融合。本章选择工程上最常用的松耦合 EKF 架构。配图是 FAST-LIO2 的硬件平台与建图效果，它代表紧耦合前沿——原始点云特征直接进入迭代 EKF，配合 ikd-tree 增量地图，无需预建图即可实现中速场景厘米级里程计。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旁白：这张流程图展示 EKF 的两阶段结构：初始化 x₀、P₀、Q、R 之后，预测步由 IMU 高频驱动，沿运动模型外推状态与协方差；更新步则由 LiDAR、GNSS 等观测迭代修正。核心三式是卡尔曼增益 Kₖ 的计算、状态修正与协方差收缩。请注意箭头方向：预测在前、更新在后，二者循环往复构成完整的递归估计。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旁白：15 维状态向量把位置、姿态、线速度、角速度、加速度全部纳入，这是 robot_localization 的标准模式。预测阶段用运动学方程外推状态，协方差按 F·P·Fᵀ+Q 传播，观测协方差按传感器分块对角组织。页脚快照提醒大家：Kalman 1960 年论文是一切的源头，多伦多大学 Coursera 课程的作业结构与本章「IMU 高频预测 + 低频观测修正」完全同构，适合课后进阶。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旁白：松耦合架构的关键在于各传感器先独立求解，再在 EKF-15 处汇合：LiDAR 点云经 SLAM 输出位姿，IMU 直接提供高频原始数据，GNSS RTK 输出位置解算，三者全部汇入 robot_localization，最终发布 /odometry/filtered。这种架构的优势是故障隔离性好——任一传感器失效不会污染其他通道，融合点清晰且便于工程替换。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旁白：频率对齐策略按各传感器的节奏分配角色：IMU 100~200Hz 驱动预测步，LiDAR SLAM 10~20Hz 触发完整 6-DOF 位姿更新，GNSS 1~10Hz 只更新位置三个分量。下方 TF2 坐标树遵循 REP-105 纪律：map→odom 由滤波器发布，odom→base_link 是 EKF 估计的无跳变相对位姿，传感器挂载用 URDF 静态变换。理解每个坐标系的原点与漂移特性，是调试定位系统的前提。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旁白：这段伪代码展示马氏距离异常检测：先计算新息及其协方差 S，再求马氏距离，一旦超过 95% 卡方阈值就丢弃该观测。这一机制在传感器短暂失效或退化场景下尤为关键。下半页是官方配置规范：15 维布尔掩码声明各传感器提供的分量，且同一时刻不能有两个传感器都提供绝对位姿，否则协方差冲突会引发抖动。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旁白：CARLA 的 get_transform 与 get_velocity 提供毫米级真值。这个 CarlaGtNode 订阅 /carla/ego_pose，在回调里把消息包装成 Odometry——frame_id 设为 map 系，时间戳用 ROS 时钟——再发布到 /carla/ground_truth。请重点看回调里的两行赋值：pose 直接取 CARLA 绝对位姿，twist 取速度，后续评估阶段就以这个话题作为对比基准。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旁白：这张表定义了定位评估的标准指标：ATE 衡量估计轨迹与真值的绝对偏差，RPE 衡量固定间隔内的相对漂移，两者都分平移与旋转分量。下方评估流程强调两个前置动作：时间戳对齐用线性插值完成，坐标差异用刚体对齐消除。跳过对齐直接比较两条轨迹，是初学者最常犯的错误，评估结论会整体失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旁白：这组 evo 命令构成标准化评估的完整闭环：先用 ros2 bag record 同时录制真值与滤波输出，再转成 TUM 格式，然后 evo_ape 算 ATE、evo_rpe 算 RPE，参数 -a 触发 Umeyama 刚体对齐。配图是 evo 的轨迹对齐与误差可视化效果。请记住官方提醒：未对齐就直接比较两条轨迹是常见错误，参数顺序与格式也要严格一致。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旁白：这页给出 CARLA 各场景的量化达标线：城区有 GNSS 时要求最严，ATE RMSE 小于 0.2 米；隧道或 LiDAR 退化场景放宽到 0.8 米；停车场无 GNSS 时靠 LiDAR 与里程计支撑 0.5 米。配图是 evo 输出的轨迹与误差统计。达标后应回到 41.4.4 流程微调协方差配置再复测，形成「评估—调参—复测」的工程闭环。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旁白：这七个要点串起完整链路：融合的必要性来自传感器互补，EKF 以清晰的预测-更新结构成为工业界主流，松耦合加 robot_localization 是最易落地的方案，TF2 坐标树是系统基础，最后用 CARLA 真值与 ATE/RPE 完成量化评估，马氏距离检测为恶劣场景兜底。请大家对照这条主线自查掌握程度，薄弱处回看对应页面。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旁白：六道练习覆盖本章核心：从 GNSS 失效场景的融合补救，到 IMU/GNSS 在 EKF 中的角色分工，再到 15 维协方差建模的意义、TF2 发布责任的划分、evo 参数 -a 的作用与真值坐标系问题。建议每题都写出简答要点，特别是第 4、5 题，直接对应工程调试中的高频错误。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旁白：本章我们打通了从传感器对比、EKF 融合到 evo 评估的完整定位链路。有了高频稳定的自车位姿输出，下一章进入交通参与者感知——如何用相机与激光雷达识别并分类车辆、行人、自行车，并为其维护稳定的目标 ID。定位是自车认知，感知是他车认知，二者共同构成后续规划的输入。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16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课时（90 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授课方式：讲授 + 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章节主线：定位技术概述 → 扩展卡尔曼滤波（EKF）→ LiDAR-IMU-GNSS 松耦合融合 → CARLA 真值对比与 evo 精度评估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本章围绕「多传感器融合定位」的完整技术链路展开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学习目标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理解多传感器融合定位的必要性，掌握松耦合、紧耦合、深耦合三种融合策略的区别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掌握扩展卡尔曼滤波（EKF）预测-更新两阶段结构、15 维状态向量设计与协方差传播方法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学会基于 robot_localization 搭建 LiDAR-IMU-GNSS 松耦合融合系统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掌握传感器频率对齐与 TF2 坐标树设计要点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理解马氏距离异常检测对融合鲁棒性的作用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3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能够获取 CARLA Ground Truth 真值，并用 evo 工具按 ATE/RPE 指标完成定位精度标准化评估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315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单一传感器无法在所有场景下可靠定位，多传感器融合是必然选择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41.1 传感器定位方案对比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GNSS (GPS/RTK)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IMU (惯性)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LiDAR (激光)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视觉 (Camera)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米级~厘米级(RTK)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航姿精确, 位置发散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厘米级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米级~分米级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频率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1~20 Hz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100~1000 Hz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10~20 Hz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15~60 Hz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长期稳定性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 (无漂移)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 (积分漂移)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 (地图匹配)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 (受光照影响)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短期稳定性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 (多径/遮挡)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 (高频)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环境依赖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需卫星信号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无外部依赖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需特征结构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需光照/纹理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低~高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低~高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主要缺陷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隧道/高楼遮挡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零偏随时间累积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退化场景(长走廊)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光照变化/动态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3525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定位系统是自动驾驶感知与决策的基石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731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各传感器优缺点互补，融合可覆盖更广工作区间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937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三种融合策略在观测层面与信息交互深度上不同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41.1.2 融合定位策略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融合层次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松耦合 (Loosely Coupled)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状态估计层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各传感器独立输出位姿估计，再融合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robot_localization EKF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紧耦合 (Tightly Coupled)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原始观测层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直接融合伪距、特征点等观测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FAST-LIO2、LIO 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深耦合 (Deeply Coupled)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信号层面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信号与导航数据深度融合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GNSS+IMU 组合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4015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本章采用松耦合 EKF 架构，融合 LiDAR SLAM 位姿、IMU 预积分、GNSS 定位解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41.1.3 紧耦合前沿——FAST-LIO2：把原始点云特征直接纳入迭代 EKF 观测方程，配合 ikd-tree 增量式地图维护，实现「无预建图、直接里程计」，中速场景厘米级精度</a:t>
            </a:r>
          </a:p>
        </p:txBody>
      </p:sp>
      <p:pic>
        <p:nvPicPr>
          <p:cNvPr id="11" name="Picture 10" descr="uav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783" y="5120640"/>
            <a:ext cx="1977489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FAST-LIO2 硬件平台与建图效果（来源：hku-mars/FAST_LIO 官方仓库）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65683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EKF 两类核心步骤：由 IMU 驱动的预测步 + 各传感器驱动的更新步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41.2.1 EKF 算法流程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509016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┌─────────────────────────────────────────────────────┐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EKF 融合流程    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   初始化        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x₀, P₀, Q, R  (k=0)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       │      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  ┌────▼────┐ 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  │ 预测步   │ (IMU 驱动)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  │ x̄ₖ = f(x̂ₖ₋₁, uₖ)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  │ P̄ₖ = F·Pₖ₋₁·Fᵀ + Q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  └────┬────┘ 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       │      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┌─────────────┼─────────────┐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▼             ▼             ▼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LiDAR 观测    GNSS观测    其他观测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z_ℓ ~ N(0,R_ℓ)  z_g ~ N(0,R_g)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│             │     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▼             ▼     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┌──────────────────────────┐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│ 更新步 (迭代观测)          │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│ Kₖ = P̄ₖ·Hᵀ(H·P̄ₖ·Hᵀ+R)⁻¹ │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│ x̂ₖ = x̄ₖ + Kₖ(zₖ − h(x̄ₖ)) │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│ Pₖ = (I − Kₖ·H)P̄ₖ       │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└──────────────────────────┘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       │     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  ┌────▼────┐ 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  │ 输出 x̂ₖ  │ 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  │ k = k+1  │ 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  └─────────┘                      │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54075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robot_localization 用 15 维状态统一描述车辆运动；协方差按块对角结构建模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41.2.2 15 维状态向量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x = [x, y, z,            ← 位置 (m)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roll, pitch, yaw,   ← 姿态 (rad)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vx, vy, vz,         ← 线速度 (m/s)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wx, wy, wz,         ← 角速度 (rad/s)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ax, ay, az]ᵀ        ← 线加速度 (m/s²)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850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41.2.3/41.2.4 预测与协方差传播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05656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pₖ = pₖ₋₁ + vₖ₋₁·Δt + ½·aₖ₋₁·Δt²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vₖ = vₖ₋₁ + aₖ₋₁·Δt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qₖ = qₖ₋₁ ⊗ exp(ωₖ₋₁·Δt/2)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P̄ₖ = F · Pₖ₋₁ · Fᵀ + Q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 = blkdiag(R_lidar, R_gnss, R_imu)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681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预测函数 F：状态转移雅可比（15×15）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88736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观测协方差：R_lidar = diag(σ_xy², σ_xy², σ_z², σ_rp², σ_rp², σ_yaw²)；R_gnss = diag(σ_gnss², σ_gnss², σ_gnss²)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894576"/>
            <a:ext cx="11094415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快照背景——卡尔曼滤波源头：Kalman 1960 年论文《A New Approach to Linear Filtering and Prediction Problems》，本章 41.2 两阶段结构是该文献的通行教学表述；多伦多大学 Coursera《State Estimation and Localization for Self-Driving Cars》课程的作业设计与本章「IMU 高频预测 + GNSS/LiDAR 低频修正」完全同构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87782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LiDAR SLAM 输出位姿、IMU 高频数据、GNSS 位置解在 EKF-15 中融合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41.3.1 松耦合整体架构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344728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┌─────────┐ 点云  ┌────────────┐ 位姿     ┌───────────┐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LiDAR   │──────▶│ LiDAR SLAM │─────────▶│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└─────────┘       │(FAST-LIO/  │ /odom    │  EKF-15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│ HDL)       │          │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┌─────────┐ 数据  └────────────┘          │ robot_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IMU    │──────────────────────────────▶│ localiz-  |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└─────────┘ /imu/data                     │ ation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┌────────────┐          │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┌─────────┐ 原始  │ GNSS RTK  │ /gps     │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GNSS    │──────▶│ 定位解算    │─────────▶│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└─────────┘       └────────────┘          └─────┬─────┘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         ┌──────▼──────┐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         │ /odometry/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         │ filtered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         └─────────────┘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松耦合各传感器独立工作，故障隔离性好；融合点在状态估计层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185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多传感器融合定位（P8）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按传感器频率决定其在 EKF 中的角色；TF2 坐标树遵循 REP-105 纪律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41.3.2 传感器频率对齐策略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322576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传感器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原始频率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EKF 接收方式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IMU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100~200 Hz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预测步驱动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每个 IMU 消息触发一次预测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LiDAR SLAM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10~20 Hz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位姿观测更新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 6-DOF 位姿更新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GNSS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1~10 Hz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位置观测更新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仅更新 x/y/z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6941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41.3.3 TF2 坐标树设计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11094415" cy="28437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map ──(static)──▶ odom ──(EKF)──▶ base_link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┌────────┼────────┐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▼        ▼        ▼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lidar_link  imu_link  gps_link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(static)   (static)   (static)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map:       世界固定坐标系 (UTM/高斯投影)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odom:      里程计坐标系, 无累计漂移的连续参考系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base_link: 车辆本体坐标系 (后轴中心)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map→odom:  初始化时确定, 之后 odom 在 map 中漂移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odom→base_link: EKF 估计的相对位姿 (无跳变)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base_link→sensor: 通过 URDF 标定的固定变换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0866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多传感器融合定位（P9）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马氏距离超过卡方阈值即判为异常观测并丢弃，保证融合鲁棒性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41.3.4 协方差阈值与异常检测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264261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融合策略伪代码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fuse_sensor_data(ekf, measurement):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马氏距离异常检测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innovation = measurement.z - ekf.h(ekf.x)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 = ekf.H @ ekf.P @ ekf.H.T + measurement.R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mahalanobis = innovation.T @ np.linalg.inv(S) @ innovation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mahalanobis &gt; CHI2_95[measurement.dim]: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logger.warn(f"异常观测丢弃: χ²={mahalanobis:.2f}")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ekf  # 拒绝异常观测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ekf.update(measurement)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006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41.3.5 官方要点——robot_localization 配置规范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212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每个传感器以 odom0/imu0/pose0 前缀接入，odom0_config 用 15 维布尔掩码声明提供哪些分量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344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官方明确警告「同一时刻不要让两个传感器同时提供绝对位姿」，否则协方差冲突导致抖动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强制 REP-105 纪律：map → odom → base_link 三级树，滤波器发布 map↔odom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0683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滤波频率设为传感器最高频率（IMU 常见 100–200 Hz），用 differential 区分位姿与速度融合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7815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多传感器融合定位（P10）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CARLA 通过 CarlaActor 提供毫米级真值，转发为 ROS 2 话题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41.4.1 获取 CarlaActor 真值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344728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CARLA 真值订阅示例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CarlaGtNode(Node):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super().__init__('carla_gt_node')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self.sub = self.create_subscription(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CarlaActor, '/carla/ego_pose', self.gt_callback, 10)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self.gt_pub = self.create_publisher(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Odometry, '/carla/ground_truth', 10)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gt_callback(self, msg):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odom = Odometry()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odom.header.stamp = self.get_clock().now().to_msg()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odom.header.frame_id = 'map'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odom.pose.pose = msg.pose  # CARLA 绝对位姿 (map系)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odom.twist.twist = msg.twist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self.gt_pub.publish(odom)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carla.Actor.get_transform() 与 get_velocity() 提供真值来源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6111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真值发布到 /carla/ground_truth，供评估阶段对比使用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031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多传感器融合定位（P11）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ATE 衡量绝对偏差，RPE 衡量相对漂移；评估前必须做时间戳与坐标对齐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41.4.2 精度评估指标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322576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Absolute Trajectory Error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(1/N)Σ‖p_est,i − p_gt,i‖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绝对轨迹偏差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ATE RMSE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ATE Root Mean Square Error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√((1/N)Σ‖p_est,i − p_gt,i‖²)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均方根绝对误差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Relative Pose Error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(1/M)Σ‖(p_est,i⁻¹p_est,i+Δ)⁻¹(p_gt,i⁻¹p_gt,i+Δ)‖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相对位姿漂移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RPE trans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RPE Translation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RPE 的平移分量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距离漂移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RPE rot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RPE Rotation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RPE 的旋转分量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角度漂移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315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41.4.3 评估流程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36592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CARLA Ground Truth ─┬─ 时间戳对齐 (线性插值) ─┬─ 计算 ATE / RPE ──▶ 可视化轨迹+误差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EKF 定位输出 /odometry/filtered ───────────── presume┘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evo 工具 (评估) 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967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多传感器融合定位（P12）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evo 一键完成 TUM 格式转换与 ATE/RPE 评估，-a 刚体对齐消除坐标系差异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41.4.4 使用 evo 工具评估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264261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保存轨迹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bag record -o localization_eval /carla/ground_truth /odometry/filtered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转换为 TUM 格式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evo_traj bag localization_eval.db3 /odometry/filtered --save_as_tum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evo_traj bag localization_eval.db3 /carla/ground_truth --save_as_tum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ATE 评估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evo_ape tum ground_truth.tum filtered_odometry.tum -a --plot --plot_mode xy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RPE 评估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evo_rpe tum ground_truth.tum filtered_odometry.tum -a --delta 1.0 --plot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93208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evo_ape 计算 ATE（含平移/旋转分量），evo_rpe 按固定间隔（1 m 或 1 s）分窗计算 RPE，内置 Umeyama 刚体对齐（-a）与尺度校正（-s）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990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官方明确提醒：未对齐前直接比较两条轨迹是常见错误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96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支持 TUM/KITTI/EuRoC 三种轨迹格式互转，--plot 可视化误差曲线</a:t>
            </a:r>
          </a:p>
        </p:txBody>
      </p:sp>
      <p:pic>
        <p:nvPicPr>
          <p:cNvPr id="12" name="Picture 11" descr="traj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7232904"/>
            <a:ext cx="109728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84216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evo 轨迹对齐示例与误差可视化（来源：MichaelGrupp/evo 官方仓库）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87690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多传感器融合定位（P13）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CARLA 场景下各项精度的典型指标要求与标准化评估闭环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41.4.5 典型精度目标 (CARLA 场景下)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ATE RMSE 目标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RPE (每米)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高速路 (直线+弯道)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0.30 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0.05 m/m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城区 (有GNSS)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0.20 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0.03 m/m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隧道/LiDAR退化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0.80 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0.10 m/m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停车场 (无GNSS)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0.50 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0.08 m/m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71246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把 robot_localization 基线评估结果与 FAST-LIO2 论文指标表对照，理解两类方法差距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256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评估完成后返回 41.4.4 流程微调协方差配置，形成闭环</a:t>
            </a:r>
          </a:p>
        </p:txBody>
      </p:sp>
      <p:pic>
        <p:nvPicPr>
          <p:cNvPr id="11" name="Picture 10" descr="res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28" y="4846320"/>
            <a:ext cx="1371599" cy="13715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evo 输出的轨迹与误差统计结果（来源：MichaelGrupp/evo 官方仓库）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65683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多传感器融合定位（P14）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按课程主线回顾定位系统从原理到评估的完整链路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本章要点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多传感器融合定位通过互补各传感器优势实现鲁棒定位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EKF 是工业界应用最广泛的融合框架，预测-更新结构清晰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松耦合架构灵活易实现，robot_localization 提供成熟方案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TF2 坐标树设计是定位系统的基础，需严格定义坐标系变换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CARLA Ground Truth 为定位精度评估提供理想基准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ATE/RPE 是评估定位精度的标准指标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537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7. 马氏距离异常检测保证融合在恶劣场景下的鲁棒性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743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多传感器融合定位（P15）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以动手验证为中心，覆盖状态估计的从理论到实践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练习题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单传感器方案中，哪些场景会导致 GNSS 定位不可用？应如何融合补救？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简述松耦合 EKF 中 IMU 与 GNSS 各自扮演的预测/更新角色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为什么 15 维状态中位置、姿态、速度、角速度、加速度都需要协方差建模？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TF2 坐标树中 map→odom、odom→base_link 分别由谁发布？为什么这样设计？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用 evo 评估时 -a 参数的作用是什么？不用的后果？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2569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CARLA 真值帧为 map 系，为什么可直接与 robot_localization 输出对比？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多传感器融合定位（P16）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多传感器融合定位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下一章进入交通参与者感知，多传感器系统将驱动后续任务层级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下章预告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第 42 章将以多传感器融合定位输出为前端，进入交通参与者感知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敬请期待：如何识别与分类车辆、行人、自行车等交通参与者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