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旁白：这是第 8 章 URDF 建模的标题页。上一章学了坐标变换，而坐标系挂在哪、关节怎么动，都由 URDF 模型定义。本章 2 课时，从语法与建模流程讲起，最后在 RViz2 中可视化验证。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旁白：六个目标覆盖建模全流程：前半段是 link 与 joint 语法、三类子元素与 origin 语义，后半段用 Xacro 的宏、属性与表达式做参数化，最后用 robot_state_publisher 加 RViz2 验证模型。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旁白：URDF 只有两类骨干元素：link 描述刚体，含视觉、碰撞与惯性三组描述；joint 描述连接关系，声明父子、原点与转轴。程序 8-1 是最小结构，后续所有机器人模型都是它的扩展，先背熟骨架再看细节。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旁白：link 三个子元素各有分工：visual 决定长什么样，collision 决定物理碰撞，inertial 决定质量与惯量。两张图分别展示了 visual 的几何外形与 material 的颜色效果。实际建模中碰撞体应比视觉更简化，质量与惯量不可全零。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旁白：joint 类型决定运动自由度：revolute 有限旋转、continuous 无限旋转、prismatic 平移、fixed 固定、planar 平面运动。运动型关节必须声明 limit 限位，包括上下界与最大力矩、速度，这是 ros2_control 与 MoveIt 2 正常工作的前提。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旁白：origin 是初学者最常踩的坑：link 的 origin 是几何体相对自身惯性中心的位姿，joint 的 origin 是子 link 相对父 link 的变换。官方开发循环是编辑、check_urdf 校验、RViz 双显示验证。物理属性优先于外观，碰撞体要更简化。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旁白：Xacro 的目标是消除重复：property 定义常量，macro 定义可复用部件，实例化时传参批量生成部件。程序 8-2 中两个轮子共用一份宏定义，靠 reflect 参数区别左右位置，代码量大大缩减，也便于批量修改。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旁白：复杂外观用 mesh 文件，路径以 package:// 包名前缀定位到 meshes 目录。注意 xacro 文件不能直接被下游工具使用，需要先展开为标准 URDF：ros2 run xacro xacro 输入文件重定向输出，这是本章实例的第一步。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旁白：Xacro 三大武器是属性、数学表达式与宏，配合 if 条件分支与 include 文件包含。工程上把底盘、机械臂、传感器分成独立文件，传感器套件用条件开关按需拼装，实现系列化快速出模型，改属性即可生成多套变体。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旁白：robot_state_publisher 是模型与 TF 之间的桥梁：它读取 robot_description 参数中的 URDF，自动发布各 link 的坐标变换，与第 7 章坐标系树直接衔接。joint_state_publisher 提供关节状态，配合 RViz 一条 launch 命令完成可视化。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旁白：RViz2 验证要点：RobotModel 插件读取 /robot_description 话题显示几何体，TF 插件显示坐标系，配置保存为 rviz 文件供 Launch 加载。同一份模型文件可服务 RViz 可视化、Gazebo 仿真与 MoveIt 2 规划，验证顺序建议先静态后动态。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旁白：实战流程：先展开 Xacro 并用 xmllint 校验语法，再启动 display_xacro.launch.py 进入 RViz。RobotModel 显示连杆关节，TF 面板显示坐标树。该入口与 Gazebo 的 SDF 模型路径不同，两种建模方式可对比学习。运行演示展示完整效果。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旁白：回顾六条要点：link 与 joint 两大要素、三类子元素、joint 类型与 limit、origin 语义差异、Xacro 参数化、robot_state_publisher 与 RViz 验证。这六点构成从模型描述到可视化验证的完整链路。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旁白：练习从最简单的一体两连杆 URDF 起步，逐步加入碰撞惯量、麦克纳姆轮宏、三节点 Launch 与条件加载。第 5 题要求截图完整模型，是检验 Xacro 展开是否正确最直观的方法，先通过再往下走。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旁白：下一章进入 Gazebo 仿真：URDF 到 SDF 的桥接、spawn_entity 生成机器人、传感器插件与 ros2_control 差速控制。本章的模型文件正是下一章仿真世界的主角，两章构成建模到仿真的连续链路。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gif"/><Relationship Id="rId4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 / 15 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6916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URDF/Xacro 机器人建模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122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课程：ROS2 Python 编程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5328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章节：第 8 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535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课时：2 课时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741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本课学习目标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2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URDF 文件结构：&lt;link&gt; 与 &lt;joint&gt; 两大基本元素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link 的 visual / collision / inertial 三类子元素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322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掌握 joint 类型与 limit 限位要求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74320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理解 origin 的坐标语义差异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XACRO 属性、数学表达式、宏实现参数化建模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用 robot_state_publisher + RViz2 RobotModel 可视化验证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2976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URDF 文件结构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3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3363468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&lt;?xml version="1.0"?&gt;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&lt;robot name="my_robot"&gt;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&lt;!-- 连杆定义 --&gt;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&lt;link name="base_link"&gt;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&lt;visual&gt; ... &lt;/visual&gt;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&lt;collision&gt; ... &lt;/collision&gt;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&lt;inertial&gt; ... &lt;/inertial&gt;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&lt;/link&gt;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&lt;!-- 关节定义 --&gt;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&lt;joint name="base_to_wheel" type="continuous"&gt;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&lt;parent link="base_link"/&gt;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&lt;child link="wheel"/&gt;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&lt;origin xyz="0 0 -0.1" rpy="0 0 0"/&gt;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&lt;axis xyz="0 1 0"/&gt;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&lt;/joint&gt;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&lt;/robot&gt;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68020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8-1：URDF 文件最小结构。每个 &lt;link&gt; 描述刚体，每个 &lt;joint&gt; 描述连接关系。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39343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link 元素详解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4 / 15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24358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子元素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用途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示例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&lt;visual&gt;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可视化几何体 (mesh/box/cylinder/sphere)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&lt;cylinder radius="0.1" length="0.2"/&gt;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&lt;collision&gt;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碰撞检测几何体（通常与 visual 一致）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&lt;box size="0.4 0.3 0.15"/&gt;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&lt;inertial&gt;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惯性参数 (mass + inertia)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&lt;mass value="1.0"/&gt;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548640" y="2560320"/>
            <a:ext cx="11094415" cy="284378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&lt;link name="base_link"&gt;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&lt;visual&gt;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&lt;geometry&gt;&lt;box size="0.4 0.3 0.15"/&gt;&lt;/geometry&gt;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&lt;material name="blue"&gt;&lt;color rgba="0 0 0.8 1"/&gt;&lt;/material&gt;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&lt;/visual&gt;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&lt;collision&gt;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&lt;geometry&gt;&lt;box size="0.4 0.3 0.15"/&gt;&lt;/geometry&gt;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&lt;/collision&gt;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&lt;inertial&gt;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&lt;mass value="5.0"/&gt;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&lt;inertia ixx="0.1" ixy="0" ixz="0" iyy="0.1" iyz="0" izz="0.1"/&gt;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&lt;/inertial&gt;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&lt;/link&gt;</a:t>
            </a:r>
          </a:p>
        </p:txBody>
      </p:sp>
      <p:pic>
        <p:nvPicPr>
          <p:cNvPr id="8" name="Picture 7" descr="visu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2537" y="5532120"/>
            <a:ext cx="1597980" cy="10972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731520" y="672084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图：官方教程——visual 元素的几何体渲染效果，外形与颜色一目了然。</a:t>
            </a:r>
          </a:p>
        </p:txBody>
      </p:sp>
      <p:pic>
        <p:nvPicPr>
          <p:cNvPr id="10" name="Picture 9" descr="material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2537" y="7068312"/>
            <a:ext cx="1597980" cy="10972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731520" y="8257031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图：官方教程——material 元素定义的颜色材质，可多处复用。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8604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joint 类型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5 / 15 页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548640" y="1188720"/>
          <a:ext cx="11094415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98138"/>
                <a:gridCol w="3698138"/>
                <a:gridCol w="3698139"/>
              </a:tblGrid>
              <a:tr h="310896"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类型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运动自由度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1" i="0">
                          <a:solidFill>
                            <a:srgbClr val="FFFFFF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典型应用</a:t>
                      </a:r>
                    </a:p>
                  </a:txBody>
                  <a:tcPr marL="50800" marR="50800" marT="12700" marB="12700" anchor="ctr">
                    <a:solidFill>
                      <a:srgbClr val="1F3A5F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revolute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绕轴旋转（有限范围）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机械臂关节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continuous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无限旋转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轮子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prismatic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沿轴平移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升降机构</a:t>
                      </a:r>
                    </a:p>
                  </a:txBody>
                  <a:tcPr marL="50800" marR="50800" marT="12700" marB="12700" anchor="ctr"/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fixed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无自由度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传感器固定连接</a:t>
                      </a:r>
                    </a:p>
                  </a:txBody>
                  <a:tcPr marL="50800" marR="50800" marT="12700" marB="12700" anchor="ctr">
                    <a:solidFill>
                      <a:srgbClr val="EAF0F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planar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平面运动</a:t>
                      </a:r>
                    </a:p>
                  </a:txBody>
                  <a:tcPr marL="50800" marR="50800" marT="12700" marB="12700" anchor="ctr"/>
                </a:tc>
                <a:tc>
                  <a:txBody>
                    <a:bodyPr wrap="square"/>
                    <a:lstStyle/>
                    <a:p>
                      <a:r>
                        <a:rPr sz="1200" b="0" i="0">
                          <a:solidFill>
                            <a:srgbClr val="262626"/>
                          </a:solidFill>
                          <a:latin typeface="微软雅黑"/>
                          <a:ea typeface="微软雅黑"/>
                          <a:cs typeface="微软雅黑"/>
                        </a:rPr>
                        <a:t>地面移动</a:t>
                      </a:r>
                    </a:p>
                  </a:txBody>
                  <a:tcPr marL="50800" marR="50800" marT="12700" marB="12700" anchor="ctr"/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548640" y="318211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revolute / continuous / prismatic 均需声明 limit（上下界、最大力矩、最大速度），这是 ros2_control 与 MoveIt 2 正常工作的前提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18795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模型描述还包含 floating 类型与 gazebo 扩展标签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60857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origin 语义与建模流程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6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初学者最易踩坑：origin 语义随父元素而变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link 的 origin：几何体「相对自身惯性中心」的位姿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 joint 的 origin：「子 link 相对父 link」的变换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官方推荐的开发循环：编辑 URDF → check_urdf 语法检查 → RViz 中 RobotModel + TF 双显示验证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16382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网格模型（mesh）用于复杂外观，支持 scale 缩放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35844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物理属性优先于外观：惯性张量不可全为零（仿真报 NaN），碰撞几何应比视觉几何更简化</a:t>
            </a:r>
          </a:p>
        </p:txBody>
      </p:sp>
      <p:pic>
        <p:nvPicPr>
          <p:cNvPr id="12" name="Picture 11" descr="origin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3294" y="4297680"/>
            <a:ext cx="2796466" cy="192024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731520" y="6309360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图：官方教程——不同 origin 参数的并排效果，直观展示位置与姿态偏差。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665683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XACRO 基础宏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7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5023104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&lt;robot xmlns:xacro="http://www.ros.org/wiki/xacro" name="xbot"&gt;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&lt;!-- 参数化属性 --&gt;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&lt;xacro:property name="wheel_radius" value="0.05"/&gt;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&lt;xacro:property name="wheel_width" value="0.03"/&gt;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&lt;!-- 宏定义 --&gt;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&lt;xacro:macro name="wheel" params="name prefix reflect"&gt;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&lt;joint name="${name}_joint" type="continuous"&gt;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&lt;parent link="base_link"/&gt;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&lt;child link="${prefix}_wheel"/&gt;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&lt;origin xyz="0 ${reflect*wheel_base/2} -0.1" rpy="0 0 0"/&gt;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&lt;axis xyz="0 1 0"/&gt;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&lt;/joint&gt;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&lt;link name="${prefix}_wheel"&gt;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&lt;visual&gt;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&lt;geometry&gt;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&lt;cylinder radius="${wheel_radius}" length="${wheel_width}"/&gt;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&lt;/geometry&gt;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&lt;/visual&gt;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&lt;/link&gt;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&lt;/xacro:macro&gt;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&lt;!-- 宏实例化 --&gt;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&lt;xacro:wheel name="left" prefix="left" reflect="1"/&gt;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&lt;xacro:wheel name="right" prefix="right" reflect="-1"/&gt;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&lt;/robot&gt;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633984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8-2：XACRO 宏减少重复代码，参数化实现车轮批量生成。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76046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mesh 文件引用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8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&lt;link name="lidar_link"&gt;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&lt;visual&gt;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&lt;mesh filename="package://robot_description/meshes/lidar.stl"/&gt;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&lt;/geometry&gt;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&lt;origin xyz="0 0 0.02" rpy="0 0 0"/&gt;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&lt;/visual&gt;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&lt;/link&gt;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Mesh 文件通常放在 meshes/ 目录，路径使用 package://&lt;pkg_name&gt;/ 前缀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xacro 展开命令：ros2 run xacro xacro 模型.xacro &gt; 输出.urdf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5811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XACRO 三大武器与模块化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9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属性（&lt;xacro:property&gt;）：常量集中定义，如 wheel_radius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数学表达式（${(wheel_radius * 2)/3}）：内联计算，消除魔法数字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宏（&lt;xacro:macro&gt;）：一次定义、参数化复用，系列化产品改属性即可生成多套 URDF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&lt;xacro:if&gt; / &lt;xacro:unless&gt;：条件分支，如 use_lidar=true 时才加载 lidar_link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04164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&lt;xacro:include&gt;：大型模型按「底盘 / 机械臂 / 传感器」分文件维护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75488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传感器套件（相机、激光雷达、IMU）作为可选模块按需拼装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17550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robot_state_publisher + joint_state_publisher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10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4654296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launch/display.launch.py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def generate_launch_description():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urdf_path = os.path.join(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get_package_share_directory('urdf_demo'),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'urdf', 'simple_robot.xacro')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return LaunchDescription([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package='robot_state_publisher',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executable='robot_state_publisher',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parameters=[{'robot_description': Command(['xacro ', urdf_path])}],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package='joint_state_publisher',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executable='joint_state_publisher',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Node(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package='rviz2',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executable='rviz2',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arguments=['-d', os.path.join(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get_package_share_directory('urdf_demo'),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        'rviz', 'display.rviz')],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    ),</a:t>
            </a:r>
          </a:p>
          <a:p>
            <a:r>
              <a:rPr sz="11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  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5971032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程序 8-3：robot_state_publisher 解析 URDF 并发布 TF，joint_state_publisher 提供关节状态 GUI。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9768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RViz2 RobotModel 显示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11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添加 RobotModel 插件，Description Topic 设置为 /robot_description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添加 TF 插件查看各坐标系，Fixed Frame 设为 base_link 或 odom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将配置保存为 .rviz 文件，供 Launch 用 -d 参数加载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同一份模型文件，可被 RViz 用于可视化、Gazebo 用于物理仿真、MoveIt 2 用于运动规划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调试顺序建议：先 RViz 静态验证、再 Gazebo 动力学验证、最后接入 ros2_control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46227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仿真结合实例：从 Xacro 模型到 RViz RobotModel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12 / 15 页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188720"/>
            <a:ext cx="11094415" cy="1837943"/>
          </a:xfrm>
          <a:prstGeom prst="rect">
            <a:avLst/>
          </a:prstGeom>
          <a:solidFill>
            <a:srgbClr val="F2F3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76200" bIns="76200"/>
          <a:lstStyle/>
          <a:p>
            <a:pPr algn="ctr"/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1：展开并校验 Xacro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run xacro xacro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src/urdf_demo_ros2/urdf/mybot.xacro &gt; /tmp/mybot.urdf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xmllint --noout /tmp/mybot.urdf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# 终端 2：启动 robot_state_publisher + RViz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ros2 launch urdf_demo_ros2 display_xacro.launch.py \</a:t>
            </a:r>
          </a:p>
          <a:p>
            <a:r>
              <a:rPr sz="1200" b="0" i="0">
                <a:solidFill>
                  <a:srgbClr val="262626"/>
                </a:solidFill>
                <a:latin typeface="Consolas"/>
                <a:ea typeface="Consolas"/>
                <a:cs typeface="Consolas"/>
              </a:rPr>
              <a:t>  use_gui:=false use_rviz:=true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15468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RViz 中 RobotModel 显示 Xacro 展开的连杆与关节，TF 面板可看到坐标树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86791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xmllint 通过表示 Xacro 输出是合法 XML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428853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该入口与 Gazebo SDF 模型路径不同，用于对比 URDF/Xacro 与 SDF 两种建模方式</a:t>
            </a:r>
          </a:p>
        </p:txBody>
      </p:sp>
      <p:pic>
        <p:nvPicPr>
          <p:cNvPr id="10" name="Picture 9" descr="ch08_urd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95842" y="5001768"/>
            <a:ext cx="3851371" cy="1216151"/>
          </a:xfrm>
          <a:prstGeom prst="rect">
            <a:avLst/>
          </a:prstGeom>
        </p:spPr>
      </p:pic>
      <p:pic>
        <p:nvPicPr>
          <p:cNvPr id="11" name="Picture 10" descr="ch08_urdf.gif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007" y="6309359"/>
            <a:ext cx="2831040" cy="10972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7498079"/>
            <a:ext cx="10728655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 i="1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本章要点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13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URDF 由 link（刚体）与 joint（连接）构成，link 含 visual / collision / inertial 三类描述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joint 分为 revolute、continuous、prismatic、fixed 等类型，运动型需 limit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origin 语义随父元素而变，是初学者最常踩的坑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03580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XACRO 通过宏、属性与数学表达式消除重复并支持条件分支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5643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robot_state_publisher 解析 URDF 并发布 TF，joint_state_publisher 提供关节值 GUI 滑块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4169663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RViz2 的 RobotModel 插件可视化验证完整机器人模型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9028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练习题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14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1. 编写包含 base_link 和 lidar_link 的 URDF，通过 fixed joint 连接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01952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2. 为 base_link 添加 collision 和 inertial 元素（mass=10kg, box inertia）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615184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3. 使用 XACRO macro 参数化生成 4 个麦克纳姆轮（前左/前右/后左/后右）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328415"/>
            <a:ext cx="11094415" cy="9326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4. 编写 display.launch.py，启动 robot_state_publisher + joint_state_publisher + rviz2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334256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5. 在 RViz2 中调出 RobotModel 和 TF 显示，截图完整的机器人模型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5047488"/>
            <a:ext cx="11094415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6. 使用 XACRO &lt;xacro:if&gt; 条件判断：当 use_lidar=true 时才加载 lidar_link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5760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---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09441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1F3A5F"/>
                </a:solidFill>
                <a:latin typeface="微软雅黑"/>
                <a:ea typeface="微软雅黑"/>
                <a:cs typeface="微软雅黑"/>
              </a:rPr>
              <a:t>下章预告</a:t>
            </a:r>
          </a:p>
        </p:txBody>
      </p:sp>
      <p:sp>
        <p:nvSpPr>
          <p:cNvPr id="3" name="Rectangle 2"/>
          <p:cNvSpPr/>
          <p:nvPr/>
        </p:nvSpPr>
        <p:spPr>
          <a:xfrm>
            <a:off x="548640" y="987552"/>
            <a:ext cx="2011680" cy="41148"/>
          </a:xfrm>
          <a:prstGeom prst="rect">
            <a:avLst/>
          </a:prstGeom>
          <a:solidFill>
            <a:srgbClr val="1F3A5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6446520"/>
            <a:ext cx="86868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第8章 PPT：URDF/Xacro 机器人建模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716975" y="6446520"/>
            <a:ext cx="29260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900" b="0" i="0">
                <a:solidFill>
                  <a:srgbClr val="8A8A8A"/>
                </a:solidFill>
                <a:latin typeface="微软雅黑"/>
                <a:ea typeface="微软雅黑"/>
                <a:cs typeface="微软雅黑"/>
              </a:rPr>
              <a:t>第 15 / 15 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188720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1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第 9 章：Gazebo 仿真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Gazebo 版本选择与 URDF → SDF 桥接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029968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spawn_entity 机器人生成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2450592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LiDAR / Camera / IMU 传感器插件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871216"/>
            <a:ext cx="11094415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600" b="0" i="0">
                <a:solidFill>
                  <a:srgbClr val="262626"/>
                </a:solidFill>
                <a:latin typeface="微软雅黑"/>
                <a:ea typeface="微软雅黑"/>
                <a:cs typeface="微软雅黑"/>
              </a:rPr>
              <a:t>• ros2_control 差速驱动控制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