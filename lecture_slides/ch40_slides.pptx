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旁白：本章是感知-规划-控制闭环的最后一环：上一章算出全局路径，本章让车辆精确跟踪它。三大控制器公式都要求手推一遍，调参步骤建议上机复现。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旁白：五条目标对应四个小节加一套调优实践：纵向前三节、横向两节、调优一节。验收标准是车辆在 CARLA 中沿圆周路径误差收敛在阈值内。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旁白：三项各管一摊：P 管当前、I 管过去、D 管未来。离散化公式与连续公式在阶段评测时要求一致，把 dt 一并乘进 Ki、Kd 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旁白：这张参数影响表是整定考试的高频考点：四列按"升/降/平稳"编口诀记。注意 Ki 与 Kd 同样减小上升时间而 D 列几乎不变，稳态误差仅 I 能消除。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旁白：ZN 法四个步骤数值不查表直接算即可：试凑出等幅振荡的 Ku、Tu，再套公式。PID 一行 Ki 是 1.2 倍 Ku/Tu 而 Kd 是 0.075 倍 Ku*Tu，方向相反别记混。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旁白：优缺点表与文献可对照记忆：Ziegler–Nichols 1942 论文给出经验整定，后续继电自整定把整定过程自动化。工程上先查表后上机微调，为调优节省时间。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旁白：油门与刹车互斥映射是纵向控制最容易理解的一步：正输出给油门负输出给刹车。映射函数把速度环输出直接转成 CarlaEgoVehicleControl 的两个量。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旁白：速度环把目标与实际速度之差送进 PID，输出经油门/刹车映射执行。注意积分项带 dt、微分项除以 dt，输出统一限幅 [-1, 1] 防积损与突变。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旁白：目标速度突变是超调的主要来源，斜坡化后跟踪更稳。积分项在有持续扰动时补偿，但长时间饱和会滞后整车，需要 anti-windup 结束时清零积分。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旁白：前视距离是 Pure Pursuit 唯一的关键参数：前视点越远越稳定切弯越靠里，越近越准确但容易震荡。公式只需一条 arctan 语句，跟随前视点切圆即可完成转向。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旁白：Stanley 短板与 Pure Pursuit 类似，但以车体坐标系前轴为基准输出航向误差与横向偏差，DARPA 竞赛证明横摆误差项能让高速入弯不切道。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旁白：对比表按"依据/低速/高速/调参/实现"五行记忆：低速选 Pure Pursuit 平滑，高速选 Stanley 防偏出。前视距离唯一参数与增益两挡是关键。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旁白：四指标表是调参验收标准：先整定出初值，再按表逐项微调顺序 P→I→D。超调与调节时间偏软约束，稳态误差由 I 项决定，理想值作为达标线。仿真分析进一步把表内指标映射到曲线观察。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旁白：自适应 PID 把参数表按速度段切开同时切换，高速段倾向防震荡、低速段倾向贴线准。CARLA 官方参考强调物理引擎与 Autoware 轨迹跟随控制器的接口，需要综合速度与路径。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旁白：六条要点对应本章四个主题加两条调优。考试高频是 P/I/D 影响表、ZN 整定表、对比表三张表，动手顺序推荐先纵向再横向。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旁白：六道练习中第一题综合理论与仿真，二、三题贴近实现，四、五题分别考察算法与整定，第六题验收调优流程。建议按顺序完成后对照本章要点自查。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旁白：本章之后课程收尾：全书以感知、规划、控制三大模块闭环收官。把标定、全局规划与控制成果串成完整自动驾驶仿真系统，作为课程项目的验收素材。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第40章 PPT：车辆纵横向控制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第40章 PPT：车辆纵横向控制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 / 17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从"规划出路径"到"跟踪路径"，本章闭环 PID、Pure Pursuit 与 Stanley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404872"/>
          <a:ext cx="1109441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小节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页码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40.1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PID 控制原理与参数整定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P3–P6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40.2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纵向控制：油门/刹车映射与速度 PID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P7–P9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40.3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横向控制：Pure Pursuit 与 Stanley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P10–P12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40.4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PID 参数调优与 CARLA 仿真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P13–P14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0873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第40章 PPT：车辆纵横向控制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学完本章能独立实现速度跟踪与路径跟踪两类控制器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掌握 PID 控制原理与 Ziegler-Nichols 参数整定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理解油门/刹车映射策略与纵向控制架构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学会速度 PID 控制器与目标速度跟踪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掌握 Pure Pursuit 与 Stanley 横向控制算法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学会在 CARLA 仿真中进行 PID 参数调优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124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40.1.1 PID 基本定义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第40章 PPT：车辆纵横向控制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PID 输出为比例、积分、微分三项线性叠加，离散化后可直接进控制周期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$$ u(t) = K_p e(t) + K_i \int e(\tau) d\tau + K_d \frac{d e}{dt} $$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增量式离散：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35808"/>
            <a:ext cx="11094415" cy="42976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u[k] = Kp * e[k] + Ki * sum(e) * dt + Kd * (e[k] - e[k-1]) / dt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593591"/>
            <a:ext cx="11094415" cy="63093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def pid(error, integral, derivative):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return Kp * error + Ki * integral + Kd * derivative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4352544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作用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物理直觉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当前误差的即时反应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越偏越用力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历史误差的累积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消灭稳态偏差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误差变化趋势的预测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提前刹车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57241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40.1.2 P / I / D 项物理意义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第40章 PPT：车辆纵横向控制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上升时间、超调量与稳态误差三指标间的权衡构成整定记忆表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9344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883"/>
                <a:gridCol w="2218883"/>
                <a:gridCol w="2218883"/>
                <a:gridCol w="2218883"/>
                <a:gridCol w="2218883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上升时间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超调量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调节时间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稳态误差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Kp ↑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减小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增大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增大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减小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Ki ↑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减小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增大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增大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明显减小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Kd ↑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影响小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减小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减小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影响小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29809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记忆规律：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P 与 I 同向影响超调，D 反之；稳态误差只有 I 能消灭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015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40.1.3 Ziegler-Nichols 整定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第40章 PPT：车辆纵横向控制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临界比例法四步得出查表参数，无需对象模型即可上手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9344"/>
            <a:ext cx="11094415" cy="123444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步骤：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1. 仅用比例控制，逐步增大 Kp 直至等幅振荡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2. 记录临界增益 Ku 与临界周期 Tu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3. 查表得到 Kp / Ki / Kd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4. 上机微调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971800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控制器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Kp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Ki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Kd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 Ku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PI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0.45 Ku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0.54 Ku/Tu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PID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 Ku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 Ku/Tu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0.075 Ku Tu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3434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40.1.4/5 优缺点与官方要点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第40章 PPT：车辆纵横向控制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PID 模型无关、实现简单，静态性能与整定依赖经验是其边界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9344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优点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缺点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不依赖对象模型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无模型最优性（不上限）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三项参数直觉清晰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积分饱和（windup）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广泛工业落地方案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大延迟系统不稳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29809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官方要点 —— PID 整定的经典文献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0156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Ziegler &amp; Nichols (1942) *Optimum Settings for Automatic Controllers（临界比例法出处）*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148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从 ZN 查表到继电器自整定（Aström 继电反馈），无需再手动试凑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354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40.2.1 油门/刹车映射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第40章 PPT：车辆纵横向控制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把速度环输出 u ∈ [-1, 1] 映射到油门与刹车两路执行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9344"/>
            <a:ext cx="11094415" cy="143560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PID 输出 u ∈ [-1, 1]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u ≥ 0 │ u &lt; 0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↓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throttle = u       brake = -u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brake = 0          throttle = 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72968"/>
            <a:ext cx="11094415" cy="123444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def map_throttle_brake(u):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if u &gt;= 0: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return u, 0.0        # (throttle, brake)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else: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return 0.0, -u       # (throttle, brake)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354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40.2.2 速度 PID 控制器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第40章 PPT：车辆纵横向控制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8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速度环以目标速度误差为输入，输出油门/刹车，构成闭环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9344"/>
            <a:ext cx="11094415" cy="832104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目标速度 v_ref ──→ [ 速度 PID ] ──→ 油门/刹车 ──→ 车辆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↑                          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└──────── 实际速度 v ────────┘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69464"/>
            <a:ext cx="11094415" cy="2843784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class SpeedPID(Node):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__init__(self):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super().__init__('speed_pid')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self.err_int = 0.0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self.err_prev = 0.0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update(self, v_ref, v_actual, dt):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e = v_ref - v_actual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self.err_int += e * dt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u = (Kp * e + Ki * self.err_int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+ Kd * (e - self.err_prev) / dt)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self.err_prev = 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return max(-1.0, min(1.0, u))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412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40.2.3 目标速度跟踪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第40章 PPT：车辆纵横向控制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9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目标速度曲线逐步变更时，速度 PID 输出油门刹车跟踪误差收敛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![运行演示：目标速度跟踪与油门/刹车输出](images/runtime/ch26_control.gif) ![运行演示：目标速度跟踪控制效果](images/runtime/ch26_control.png)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运行演示：车辆目标速度跟踪控制效果（左：GIF 动画，右：静态帧）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035808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误差来源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表现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对策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目标突变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超调、震荡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目标速度斜坡化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重力影响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上坡速度掉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前馈补偿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积分饱和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松油门延迟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anti-windup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440740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40.3.1 Pure Pursuit 算法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第40章 PPT：车辆纵横向控制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10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以前视距离 Ld 为半径搜索目标点，转向角由航向差决定，几何简洁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9344"/>
            <a:ext cx="11094415" cy="123444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L (轴距、前视距离 Ld、目标点方向与车身轴线夹角 α)：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δ = atan( 2 * L * sin(α) / Ld 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方向: 前视点 (gx, gy) 基于当前位姿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971800"/>
            <a:ext cx="11094415" cy="832104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def pure_pursuit_steer(v, alpha, L, Ld):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delta = math.atan2(2.0 * L * math.sin(alpha), Ld)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return max(-1.0, min(1.0, delta))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319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参数直觉：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Ld 越大越平稳、转向越缓；Ld 越小越激进、贴线越紧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451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40.3.2 Stanley 控制器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第40章 PPT：车辆纵横向控制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11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前轴中心为基准输出航向误差与横向偏差两项，源自 DARPA 挑战赛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163677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Stanley 控制器（前轴中心为基准）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δ = ψ_e + atan( k * e / (v) 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ψ_e  航向误差：车头方向与路径切线夹角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e    横向偏差：前轴中心到路径最近点的垂距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k    增益：随车速自适应缩放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66744"/>
            <a:ext cx="11094415" cy="832104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def stanley_steer(psi_e, e, v, k=0.5):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delta = psi_e + math.atan2(k * e, max(v, 0.5))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return max(-1.0, min(1.0, delta))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2686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官方要点 —— Stanley 与 DARPA 实战：横摆误差项的价值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：在真实车辆上，横摆误差项（ψ_e）保证高速接弯不偏出车道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400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40.3.3 两种控制器对比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第40章 PPT：车辆纵横向控制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Pure Pursuit 看前视点，Stanley 看前轴误差；弯道高速与低速各有所长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01952"/>
          <a:ext cx="1109441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特性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Pure Pursuit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Stanley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依据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前视目标点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前轴中线误差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低速弯道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平滑稳定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低误差精确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高速弯道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震荡风险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更稳定防偏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调参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前视距离一个参数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增益 k 经验值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实现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几何外插简单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误差外插稍复杂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895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官方要点 —— Pure Pursuit 官方出处：前视距离的物理直觉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（Coulter 1992，CMU）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08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40.4.1/2 手动调参步骤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第40章 PPT：车辆纵横向控制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先 ZN 求出初值，再按性能指标表微调，最后上 CARLA 仿真验证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123444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手动调参四步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1. ZN 整定给出初值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2. 按性能指标表微调 (P 先、I 次之、D 最后)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3. 目标速度斜坡化 (抑制超调)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4. 观测指标: 超调量、上升时间、调节时间、稳态误差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264408"/>
          <a:ext cx="1109441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指标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定义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理想值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超调量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最大偏差/目标值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≤ 10%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上升时间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首次到达目标的时间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越短越好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调节时间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进入 5% 稳态带的时间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越短越好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稳态误差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长时间残差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≤ 1%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carsim_analys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407" y="4946904"/>
            <a:ext cx="2256241" cy="12710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纵横向控制调参后的仿真分析：以性能指标表为验收标准，在仿真环境中验证控制效果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6568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40.4.3/4 自适应 PID 与 CARLA 调参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第40章 PPT：车辆纵横向控制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车速分档在线切换参数，CARLA 中遍历仿真验证调参效果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9344"/>
            <a:ext cx="11094415" cy="123444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自适应：按车速段切换参数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def get_gains(v):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if v &lt; 5:   return Kp_slow, Ki_slow, Kd_slow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if v &lt; 15: return Kp_cruise, Ki_cruise, Kd_cruise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return Kp_fast, Ki_fast, Kd_fast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971800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速度段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场景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低速 &lt; 5 m/s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泊车 / 起步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贴线准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中速 &lt; 15 m/s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城区巡航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动态平衡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高速 ≥ 15 m/s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快速路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防震荡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343400"/>
            <a:ext cx="11094415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官方要点 —— CARLA 车辆物理与 Autoware 轨迹跟随的官方参考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：CARLA 中 CarlaEgoVehicleControl 的 throttle/brake/steer 均归一化到 [-1, 1] 后经物理引擎执行；Autoware 的 trajectory_follower 以横向 MPC、纵向带前馈的 PID 实现轨迹跟随</a:t>
            </a:r>
          </a:p>
        </p:txBody>
      </p:sp>
      <p:pic>
        <p:nvPicPr>
          <p:cNvPr id="10" name="Picture 9" descr="carla_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5484" y="5934456"/>
            <a:ext cx="3192087" cy="1097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7123176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CARLA 模块架构：客户端经 CarlaEgoVehicleControl 下发节气门/刹车/转向指令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74706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本章要点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第40章 PPT：车辆纵横向控制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六条主线覆盖"原理 → 纵/横向控制 → 整定 → 仿真验证"全链路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PID = P·当前 + I·历史 + D·趋势，四指标表记参数方向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Ziegler-Nichols 临界比例法四步得 Ku/Tu 后可查表整定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纵向控制：速度 PID 输出限幅后经油门/刹车映射执行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横向控制：Pure Pursuit 用前视点切圆、Stanley 用前轴误差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7705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弯道高速与低速分别选 Stanley 防偏、Pure Pursuit 平滑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768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6. 调参顺序 P→I→D，按性能指标表验收，CARLA 仿真闭环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1830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练习题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第40章 PPT：车辆纵横向控制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覆盖四类技能：PID 写码、油门/刹车映射、导航控制与调参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实现离散 PID 并用正弦目标曲线仿真，记录超调量与稳态误差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实现速度 PID 并画出油门/刹车映射的两段输出曲线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在 CARLA 中以 5 m/s 弯道测试 Pure Pursuit 的前视距离参数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分别用 Pure Pursuit / Stanley 沿圆路径对比跟踪误差曲线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7705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实现 ZN 整定：手动找 Ku/Tu、查表出三组参数并上 CARLA 仿真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768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6. 按 P→I→D 顺序调参并用性能指标表验收，比较四个指标变化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1830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下章预告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第40章 PPT：车辆纵横向控制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课程收尾：从自动驾驶仿真到系统集成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课程总结与自动驾驶系统集成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回顾 ROS 2 全栈：话题、服务、动作与生命周期通信机制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CARLA 自动驾驶仿真闭环：感知 → 规划 → 控制全链路打通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多传感器标定、全局路径规划与纵横向控制成果汇总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课程项目：综合运用全书知识点完成自动驾驶仿真任务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124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课后任务：整理全书知识图谱，完成课程综合实践项目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