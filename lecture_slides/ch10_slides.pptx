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旁白：这是第 10 章 SLAM 基本概念与贝叶斯框架的标题页。让机器人在未知环境里同时回答「我在哪」和「周围长什么样」，就是本章主题。本章 2 课时，从数学定义讲到贝叶斯框架，再到 ROS2 工具链。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旁白：五个目标构成递进链条：先理解 SLAM 问题的数学定义与挑战，再掌握贝叶斯滤波框架，熟悉传感器与 TF 体系，了解方法分类，最后能独立推导基本公式。目标是让 SLAM 从黑盒变成可分析、可推导的框架。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旁白：图中央的循环说明困难所在：定位需要地图，建图需要位置，这就是著名的鸡生蛋蛋生鸡问题。SLAM 的目标是打破这种循环，在没有任何先验的情况下同时完成两件事，因此被称为机器人学的圣杯级难题。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旁白：数学形式化把问题定义为联合后验概率：在给定观测与控制下求位姿序列与地图。符号表先理清四类变量，再记两个递归步骤：预测用运动模型做积分，更新用观测模型乘上似然，最后乘归一化常数。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贝叶斯滤波是求解手段：预测步骤向前推移信念，更新步骤用观测修正信念。前提是马尔可夫假设：未来位姿只依赖当前状态与控制，当前观测只依赖当前位姿与地图。代码骨架里的均值与协方差正是信念的两种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旁白：把滤波扩展到 SLAM，状态向量会长出所有地图点，复杂度随之上升。首次见到的路标从极坐标转全局初始化，已知路标做 EKF 更新。局限表给出四个维度：高维、非线性、数据关联与 O(n 平方) 计算，正因如此才催生了更先进的方法。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旁白：传感器选型表：2D 激光雷达是室内主流，3D 激光适合室外，RGB-D 相机做视觉 SLAM，IMU 频率高但会漂移，里程计短期准长期漂。多传感器融合时，用 SensorMonitor 统一监控各话题的数据流，是排查数据缺失的利器。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旁白：TF 体系是 SLAM 的坐标系骨架：map 是全局参考系，odom 由里程计连续更新，base_footprint 与 base_link 描述本体，laser 安装于传感器之上。map 到 odom 的变换由 SLAM 或 AMCL 持续修正，正是它抵消了里程计的累积误差。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旁白：数据质量决定建图成败：开机先 topic hz 与 echo 检查频率和时间戳，用 view_frames 查看 TF 树。两条铁律：仿真与回放一律开 use_sim_time，录数据前先验频。slam_toolbox 的 frame 名必须与 TF 树一一对应，否则建图中断。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旁白：滤波方法这张表是谱系图：EKF 最早但计算 O(n 平方)，粒子滤波用粒子表示轨迹，gmapping 加自适应提议分布成为经典。优点是实时在线，缺点是线性化误差与粒子退化，大规模环境扩展性有限，这是选择时的权衡依据。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旁白：图优化方法把问题变成顶点与边的图：位姿与路标是顶点，里程计、观测与回环是约束边，通过最小化误差函数求解。GraphSLAM 用稀疏矩阵，Cartographer 与 SLAM Toolbox 都用 Ceres 求解器，回环检测是它们区别于纯滤波的长处。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旁白：视觉方法按特征与像素分派系：ORB 特征法、DSO 直接法、SVO 半直接、VINS 视觉惯性。混合方法表给出融合方向。选型口诀：室内有里程计用 slam_toolbox，无里程计用 Hector，大场景上 Cartographer。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旁白：数学推导回到贝叶斯定理本身：后验正比于似然乘先验。递归式把预测与更新紧凑表达。FastSLAM 的关键是条件独立分解：给定轨迹后地图点互不影响，先估轨迹再算地图。信息形式较协方差形式更适合大规模稀疏求解。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旁白：ROS2 工具链三件套：slam_toolbox 在线与离线建图，nav2_amcl 基于已知地图定位，cartographer_ros 做多传感器融合。命令给出在线异步建图与 AMCL 定位的启动方式，录制 rosbag 后可离线重放建图并用 map_saver 保存地图。运行演示展示建图全过程。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旁白：官方要点总结三件事：slam_toolbox 三种模式分别适合边建边部署、暂停出图与离线回放；Cartographer 调参重点是激光范围裁剪、无 IMU 时关闭 use_imu_data 与搜索窗口；工程原则是先 rosbag 离线调参再上真机。插件面板可交互控制会话。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旁白：回顾本章六条要点：问题定义、数学核心、滤波局限、坐标体系、两类方法对比与 ROS2 工具链。从后验公式到工具命令，一条线索贯穿：数学框架决定算法选择，算法选择决定工具链。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旁白：下一章转向 ICP 与 PLICP 扫描匹配：从贝叶斯框架走向匹配几何，扫描匹配的两大经典解法将登场。它是激光 SLAM 前端的核心算子，也是连接数学与几何实践的桥梁。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gif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SLAM基本概念与贝叶斯框架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课程：ROS2 Python 编程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章节：第 10 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41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本课学习目标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SLAM 问题的数学定义与核心挑战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掌握贝叶斯滤波框架在 SLAM 中的应用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熟悉 SLAM 系统中的传感器模型与 TF 坐标变换体系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了解 SLAM 方法的分类及其适用场景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能够推导基本贝叶斯滤波公式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SLAM 问题定义：起源与意义（10.1.1）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┌───────────┐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│   定位    │  要精确建图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└─────┬─────┘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│ 鸡生蛋蛋生鸡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└─────┴─────┐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│   建图    │  要精确定位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└───────────┘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535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SLAM (Simultaneous Localization and Mapping)：在未知环境中同时定位与建图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66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机器人领域公认的基础性难题，被誉为「机器人学的圣杯」之一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873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定位：根据传感器数据确定位姿 (x, y, 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079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建图：构建栅格地图，用于导航与避障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286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核心挑战：打破定位与建图的耦合，无先验同时完成两项任务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492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SLAM 问题的数学形式化（10.1.2 / 10.1.3）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后验概率表达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p(x_{1:t}, m | z_{1:t}, u_{1:t-1})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67128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符号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x_{1:t}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从时刻 1 到 t 的完整位姿序列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环境地图（栅格地图或特征地图）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z_{1:t}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从时刻 1 到 t 的所有观测数据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u_{1:t-1}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从时刻 1 到 t-1 的所有控制输入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8496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预测步骤（运动模型）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70248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p(x_t, m | z_{1:t-1}, u_{1:t-1}) =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∫ p(x_t | x_{t-1}, u_t) · p(x_{t-1}, m | z_{1:t-1}, u_{1:t-2}) dx_{t-1}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更新步骤（观测模型）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449824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p(x_t, m | z_{1:t}, u_{1:t-1}) =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η · p(z_t | x_t, m) · p(x_t, m | z_{1:t-1}, u_{1:t-1})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087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η 为归一化常数，确保概率和为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6294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贝叶斯滤波基本原理（10.2.1 / 10.2.2）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贝叶斯滤波是 SLAM 的核心数学工具，递归估计状态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基本思想：状态转移模型预测 + 观测模型更新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1094415" cy="304495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BayesianFilter: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"""贝叶斯滤波基础框架"""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predict(self, control, motion_noise):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"""预测步骤：根据运动模型更新信念"""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运动模型：x_t = f(x_{t-1}, u_t) + noise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G = np.eye(self.dim_state)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self.belief_mean = self.motion_model(self.belief_mean, control)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self.belief_cov = G @ self.belief_cov @ G.T + np.diag(motion_noise)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update(self, observation, obs_noise):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"""更新步骤：根据观测修正信念"""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innovation = observation - self.observation_model(self.belief_mean)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K = self.belief_cov @ H.T @ np.linalg.inv(S)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self.belief_mean = self.belief_mean + K @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029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马尔可夫假设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状态完备性：当前状态包含预测未来所需的所有信息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44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观测独立性：给定当前状态，当前观测与过去观测独立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64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SLAM 中：未来位姿只取决于当前位姿和控制输入；当前观测只取决于当前位姿和地图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885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贝叶斯滤波的 SLAM 实现与局限（10.2.3 / 10.2.4）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状态向量：[robot_x, robot_y, robot_theta, lm1_x, lm1_y, ...]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0391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SLAMBayesianFilter: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"""基于贝叶斯滤波的SLAM框架"""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update_with_landmark(self, z, landmark_id, sensor_noise):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if not self.landmarks_seen[landmark_id]: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# 初始化新路标点：将极坐标观测转换为全局坐标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...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else: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# EKF更新已知路标点：预测观测 + EKF更新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首次观测路标点：极坐标转全局坐标初始化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97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已知路标点更新：计算量、观测雅可比、创新 EKF 更新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103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贝叶斯滤波的局限性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5330952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挑战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高维状态空间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包含地图点后状态维度线性增长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非线性问题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运动模型与观测模型高度非线性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数据关联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需正确匹配观测与地图点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计算复杂度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协方差更新 O(n²)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7013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催生 GraphSLAM、粒子滤波 SLAM 等更先进方法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434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SLAM 常用传感器（10.3.1）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传感器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话题/代表产品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2D 激光雷达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sensor_msgs/LaserScan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室内导航主要传感器，270°-360°、分辨率 0.25°-1°、测距 8-30m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3D 激光雷达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sensor_msgs/PointCloud2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室外大场景，VLP-16、Ouster OS 系列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深度相机 RGB-D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RGB 图像 + 深度图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RealSense D415/D435、Kinect，视觉 SLAM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IMU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sensor_msgs/Imu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频率 100-1000Hz，存在漂移，常与激光/视觉融合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里程计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nav_msgs/Odometry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编码器估算位移，短期精度高、长期累积误差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1821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多传感器融合时可用 SensorMonitor 节点统一订阅 /scan、/imu、/odom 监控数据流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95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TF 坐标变换体系（10.3.2 / 10.3.3）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map → odom → base_footprint → base_link → laser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46504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坐标系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全局世界坐标系，SLAM 建图固定参考系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odom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机器人起始位置，里程计连续更新，局部精度高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base_footprint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机器人在地面的投影，常作本体坐标系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base_link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机器人本体中心坐标系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laser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激光传感器坐标系，通常在机器人顶部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739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map→odom 变换由 SLAM/AMCL 持续更新，消除里程计累积误差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代码：TFMonitor 节点每秒查询 map→base_link 变换，并将激光点 (1,0,0) 变换到 map 坐标系（节选）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73752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query_tf(self):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trans = self.tf_buffer.lookup_transform(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'map', 'base_link', rclpy.time.Time())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查询 map → base_link 变换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map_point = self.tf_buffer.transform(laser_point, 'map')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将激光点转换到map坐标系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373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传感器标定与时间同步（10.3.4 / 10.3.5）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28437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检查传感器话题频率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hz /scan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hz /odom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hz /imu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检查传感器时间戳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echo /scan --once | grep stamp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查看TF树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tf2_tools view_frames.py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查看TF广播关系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tf2_ros tf2_monitor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时间同步两条铁律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811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仿真与 bag 重放一律开 use_sim_time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017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录数据前先 ros2 topic hz 检查频率，避免激光帧率忽高忽低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223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slam_toolbox 的 base_frame、odom_frame、map_frame 必须与 TF 树 frame 名逐一对应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356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参数不匹配或 transform_tolerance 过小，建图会直接中断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562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基于滤波的 SLAM 方法（10.4.1）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滤波器类型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EKF-SLAM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扩展卡尔曼滤波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最早的方法，计算 O(n²)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FastSLAM 1.0/2.0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Rao-Blackwellized 粒子滤波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粒子表示路径，EKF 维护地图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gmapping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RBPF + 自适应提议分布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广泛使用的 2D SLAM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UKF-SLAM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无迹卡尔曼滤波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处理强非线性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优点：在线计算、实时性强，自然处理不确定性，易于嵌入控制回路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缺点：线性化误差（EKF）、粒子退化问题（粒子滤波）、大规模环境扩展性有限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基于优化的 SLAM 方法（10.4.2）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优化方法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GraphSLAM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稀疏矩阵分解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全图优化，离线批处理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Cartographer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Ceres Solver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子图和回环检测，Google 开源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SLAM Toolbox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Ceres Solver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ROS2 官方 2D SLAM 工具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KartoSLAM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SPA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基于图优化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2871216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节点 (Vertex):       边 (Edge):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- 机器人位姿 x_t      - 里程计约束 (连续位姿间)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- 路标点 l_j          - 观测约束 (位姿-路标点)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- 回环约束 (非连续位标间)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325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图优化框架中通过最小化误差函数求解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5312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GraphSLAM 代码：添加里程计约束、观测约束、构建线性系统 H·Δx = b（节选）</a:t>
            </a:r>
          </a:p>
        </p:txBody>
      </p:sp>
      <p:pic>
        <p:nvPicPr>
          <p:cNvPr id="10" name="Picture 9" descr="ceres_solv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846" y="5166360"/>
            <a:ext cx="1967362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图：slam_toolbox 文档——Ceres 求解器优化前后的对比示意。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7025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视觉/混合方法与选型（10.4.3 / 10.4.4 / 10.4.5）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基于视觉的方法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ORB-SLAM2/3：特征法，三线程架构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DSO：直接法，利用像素亮度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SVO：半直接法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VINS-Mono：视觉惯性融合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混合方法对照表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712464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激光+IMU 融合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Cartographer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扫描匹配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图优化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视觉+惯性融合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VINS-Fusion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特征跟踪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滑窗 BA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激光+视觉融合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LVI-SAM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多传感器前端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因子图优化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0840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选型参考（节选）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046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室内有里程计：slam_toolbox / gmapping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253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室内无里程计：Hector-SLAM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459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大场景：Cartographer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7665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相机 + IMU：VINS-Fusion / ORB-SLAM3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7187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贝叶斯框架的数学推导（10.5.1 / 10.5.2 / 10.5.3 / 10.5.4）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贝叶斯定理回顾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p(A|B) = p(B|A) · p(A) / p(B)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6712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后验 p(x_t, m | z_{1:t}, u_{1:t-1})：给定观测和控制的状态信念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似然 p(z_t | x_t, m)：给定位姿和地图的观测概率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009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先验 p(x_t, m | z_{1:t-1}, u_{1:t-1})：预测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216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递归贝叶斯滤波推导（预测-更新循环）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42232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bel(x_t, m) = ∫ p(x_t | x_{t-1}, u_t) · bel(x_{t-1}, m) dx_{t-1}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bel(x_t, m) = η · p(z_t | x_t, m) · bel(x_t, 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0118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FastSLAM 条件独立：p(x_{1:t}, m | z_{1:t}, u_{1:t-1}) = p(m | x_{1:t}, z_{1:t}) · p(x_{1:t} | z_{1:t}, u_{1:t-1})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070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给定机器人轨迹，地图点条件独立，可先估计轨迹再计算地图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27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信息形式 vs 协方差形式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6748272"/>
          <a:ext cx="11094415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形式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协方差形式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EKF-SLAM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维护均值与协方差，O(n²)，直观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信息形式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GraphSLAM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维护信息矩阵 Ω 与信息向量 ξ，稀疏利于大规模求解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78089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ROS2 SLAM 工具链概览（10.6.1 / 10.6.2 / 10.6.3）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slam_toolbox：ROS2 官方 2D SLAM，图优化，在线/离线建图，替代 gmapping 和 karto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nav2_amcl：基于已知地图粒子滤波定位，KLD 自适应采样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cartographer_ros：Google 开源多传感器 SLAM，2D/3D，激光 + IMU 融合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35808"/>
            <a:ext cx="11094415" cy="20391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slam_toolbox 在线异步建图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slam_toolbox online_async_launch.py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slam_params_file:=./config/slam_toolbox_params.yaml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use_sim_time:=true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Nav2 AMCL定位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nav2_bringup localization_launch.py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map:=./maps/my_map.yaml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use_sim_time:=true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029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数据录制与离线建图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23559"/>
            <a:ext cx="11094415" cy="20391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录制传感器数据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bag record -o slam_data /scan /tf /tf_static /odom /imu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离线建图（使用rosbag）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slam_toolbox offline_launch.py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bag_filename:=slam_data use_sim_time:=true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评估建图结果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nav2_map_server map_saver_cli -f final_map</a:t>
            </a:r>
          </a:p>
        </p:txBody>
      </p:sp>
      <p:pic>
        <p:nvPicPr>
          <p:cNvPr id="12" name="Picture 11" descr="slam_toolbox_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367" y="7790688"/>
            <a:ext cx="2720321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897940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图：slam_toolbox 文档——在线同步建图的栅格地图效果示例。</a:t>
            </a:r>
          </a:p>
        </p:txBody>
      </p:sp>
      <p:pic>
        <p:nvPicPr>
          <p:cNvPr id="14" name="Picture 13" descr="ch10_sl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348" y="9326880"/>
            <a:ext cx="8432359" cy="1097280"/>
          </a:xfrm>
          <a:prstGeom prst="rect">
            <a:avLst/>
          </a:prstGeom>
        </p:spPr>
      </p:pic>
      <p:pic>
        <p:nvPicPr>
          <p:cNvPr id="15" name="Picture 14" descr="ch10_slam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8868" y="10515600"/>
            <a:ext cx="5505318" cy="1097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117043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官方要点——工具链工程结论（10.6.4 / 10.6.5）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三种建图模式（SLAM Toolbox Wiki）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online_async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在线异步建图，建图与定位同时进行，适合边建图边部署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online_sync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同步建图，机器人暂停才能出图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offline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在录制好的 rosbag 上一次性回放建图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9809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Cartographer 调参重点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min_range / max_range：裁剪激光有效测距范围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2219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missing_data_ray_length：无回波的射线长度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428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use_imu_data：无 IMU 时必须关闭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ceres_scan_matcher：线性与角度搜索窗口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840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回环检测 spacing 与后端优化频率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046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两条工程原则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253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先在 rosbag 上离线调好参数，再上真机或仿真在线运行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459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回环被拒绝时优先查激光范围裁剪与搜索窗口，而非加大迭代次数</a:t>
            </a:r>
          </a:p>
        </p:txBody>
      </p:sp>
      <p:pic>
        <p:nvPicPr>
          <p:cNvPr id="17" name="Picture 16" descr="rviz_plu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191" y="6766559"/>
            <a:ext cx="1424673" cy="1097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795527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图：slam_toolbox 文档——RViz2 中 slam_toolbox 插件面板，用于控制建图会话。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83027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本课要点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SLAM 是同时定位与建图的联合后验估计，被誉为机器人学「圣杯」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数学核心：p(x_{1:t}, m | z_{1:t}, u_{1:t-1})，预测/更新两步递归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贝叶斯滤波依赖马尔可夫假设，纯滤波受高维、非线性、数据关联限制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传感器与坐标：map → odom → base_footprint → base_link → laser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滤波方法（EKF/粒子滤波）在线快，优化方法（图优化）大规模与回环更强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ROS2 工具链：slam_toolbox 建图 + nav2_amcl 定位 + rosbag 离线调参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第10章 PPT：SLAM基本概念与贝叶斯框架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11 章：ICP 与 PLICP 扫描匹配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从贝叶斯框架走向匹配几何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预告：扫描匹配的两大经典解法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