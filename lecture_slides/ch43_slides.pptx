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旁白：各位同学好，本章进入《行为决策与交通规则》，主线是分层决策架构、有限状态机 FSM、交通灯识别与响应、Traffic Manager 与 Scenario Runner 五部分。全章共 17 页、2 课时，采用讲授加演示的方式。建议上承感知层、下接规划控制来把握本章在整车架构中的位置。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旁白：本页列出六大学习目标，覆盖分层架构定位与分工、FSM 状态与转移表、CARLA 交通灯 API、Traffic Manager 参数配置驾驶风格、Scenario Runner 内置场景与自定义场景编写。建议按此清单自检：能否画出分层流程图、写出转移表、调通交通灯 API、配置 TM 风格并运行自定义场景。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旁白：本页的分层决策架构自上而下：任务规划给出 A 到 B 的全局路径，行为决策在 100ms 到 1s 尺度上决定巡航、跟车等离散行为，运动规划以 10ms 到 100ms 生成无碰撞轨迹，控制层用 PID、MPC 跟踪轨迹输出油门刹车转向。注意行为决策输出目标行为、目标速度与目标车道三件套，是上下层之间的传递接口，下方输入输出表可对照记忆。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旁白：本页定义 FSM 的七个状态：巡航、跟车、变道左右、停车、避障与完成，覆盖常见驾驶场景。官方课程范式强调两条工程纪律：每个状态必须显式声明进入与退出条件，转移条件要非重叠、可穷举，否则 FSM 会出现不可复现的抖动。状态多时行为树可读性更好，但需处理回退节点优先级。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旁白：本页的状态转移图把驾驶状态间的触发关系画成箭头：前车接近进入跟车，红灯或行人进入停车，前车切入触发变道，变道完成回到巡航。图中每条箭头都能在 P6 的转移表中找到对应行，两者一一对应，是评审 FSM 完整性的依据。可先看转移图理解触发条件，再核对转移表覆盖是否完备。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旁白：本页把转移表与实现对应：每条转移写明当前状态、条件、下一状态与动作四列，例如巡航遇前车距离小于安全距离转入跟车，红灯则减速停止。代码里每帧调用 update，按当前状态从转移表中取出对应 handler，返回新状态与驾驶命令。实现时只要查表分发即可，逻辑集中、不易出错。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旁白：本页介绍 CARLA 交通灯 API：vehicle.get_traffic_light 获取影响车辆的下一个灯，get_state 读灯色，get_stop_waypoints 拿到停止线位置。多路口时车辆可能受多个灯影响，用交通灯管理器 get_affecting_traffic_light 按车道归属筛选。官方强调模拟器不会替你刹车，车辆必须自行查询并遵守灯色；get_affected_lane_waypoints 是判定受控于该灯的推荐方式。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旁白：本页给出完整的红灯停车逻辑：灯色识别加停止线距离判断。状态图从未知经接近再到红黄绿分类，黄灯剩余大于 3 秒可减速，否则减速停止，绿灯匀速通过。should_stop_for_traffic_light 函数以 stop_margin 3 米判断已到停止线，红灯黄灯在 15 米内需减速停车。注意各参数与调用顺序即可完成交通灯响应。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旁白：本页进入 Traffic Manager：一行 set_autopilot 即把车辆交给内置后台。官方架构按定位、碰撞检测、交通灯处理、运动学四个阶段流水线运行，每个 actor 独立计算。大批量背景车建议开启混合物理模式，仅 ego 附近全物理仿真、远处运动学简化，把 CPU 开销压到可用水平。注意同一车辆不能同时被 TM 与 FSM 接管。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 TM 参数表给出六大驾驶参数：目标车速、跟车距离、闯灯概率、变道偏好、限速忽略与强行变道。示例代码对比激进与保守两种风格：激进时速 80、跟车 2 米、闯灯概率 20%，保守时速 50、跟车 8 米、完全遵守信号。TM 常用于批量控制背景交通流，自车行为用自定义 FSM 精细控制。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旁白：本页对比 TM 与自定义 FSM 的分工：TM 负责巡航跟车、红绿灯响应、限速适应与简单避障，适合批量控制背景交通流；FSM 处理复杂场景决策、变道超车策略、行人横穿检测与紧急避让，适合精细控制自车。边界条件是同一车辆同时只能被一方接管。两列结合即完整决策方案。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 Scenario Runner 三层框架把场景脚本与被测算法、性能判据解耦：Scenario 定义初始、触发与终止条件，Agent 是被测的行为决策与规划控制，Evaluation 评估碰撞、红绿灯与路线。内置场景表列六类典型测试，如 FollowLeadingVehicle 测跟车响应、CrossPedestrian 测紧急制动。理解三层脉络即可扩展自定义。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旁白：本页两个自定义场景模板：行人横穿用 WaypointReached 触发后执行 CrossPedestrian 过街，前车切入则是 DriveDistance 行驶 30 米后 ChangeLane 变道、BrakeVehicle 刹车。两者都靠 _initialize_actors、_create_behavior 与 _create_test_criteria 三个核心方法组织行为树与判据。下方 storyboard 图展示触发与动作编排。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旁白：本页给出运行命令：scenario_runner.py 加 --scenario 指定场景名、--agent 指定被测算法，即可运行内置或自定义场景。官方支持 ASAM OpenSCENARIO 1.x 标准，用 --openscenario 参数直接运行 .xosc 文件，场景可写成跨仿真器可移植的标准 XML。右侧 osc_catalogs 图展示目录组织场景资源，工程上可把场景库纳入 CI 回归测试。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旁白：本页按决策、交通规则、背景流、场景测试四条主线总结：行为决策是分层架构的中间层，FSM 状态定义清晰转移直观，交通灯响应等于灯色识别加停止线距离判断，Traffic Manager 适合批量控制背景交通流。混合物理模式只在 ego 附近全物理仿真，可大幅压低 CPU 开销。Scenario Runner 是回归测试的载体。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旁白：本页五道练习覆盖本章主干：分层决策架构与行为规划、运动规划的时间尺度差异，FSM 转移条件为何要非重叠可穷举，用 CARLA API 判断交通灯前停车的步骤，TM 配置风格与混合物理模式解决的问题，以及自定义行人横穿场景要实现的三个核心方法。建议先默写流程再动手写代码。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旁白：本页预告下一章：第 44 章转入系统级视角，讲解安全验证方法与系统集成实践。敬请期待如何用仿真场景验证整个自动驾驶系统的安全性与可靠性。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授课方式：讲授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章节主线：分层决策架构 → 有限状态机 (FSM) → 交通灯识别与响应 → Traffic Manager → Scenario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本章把感知结果转成驾驶行为，并接入 CARLA 仿真验证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学习目标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理解行为决策在自动驾驶分层架构中的位置与作用，掌握行为规划与运动规划的分工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掌握用有限状态机（FSM）实现行为决策：状态定义、状态转移表与转移逻辑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学会 CARLA 交通灯 API：识别灯色、判断停止线距离、多路口受控灯筛选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了解 Traffic Manager 的架构与核心参数，能配置不同驾驶风格的背景交通流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熟悉 Scenario Runner 场景测试框架，能运行内置场景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能编写行人横穿、前车切入等自定义场景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决策系统自上而下分层细化：任务规划 → 行为决策 → 运动规划 → 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43.1.1 分层决策架构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41010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任务规划 (Route Planning)       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全局路径: A → B, 考虑道路网络、交通规则、拥堵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 全局路径 (+ 车道级路线)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行为决策 (Behavioral Decision)  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巡航 / 跟车 / 变道 / 停车 / 避障 / 超车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有限状态机 (FSM) 或 行为树 (Behavior Tree)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 驾驶行为 + 目标车道 + 目标速度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运动规划 (Motion Planning)      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生成平滑、无碰撞的轨迹 (路径 + 速度曲线)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常用算法: A*, RRT*, Lattice Planner, DWA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 轨迹点 (x, y, θ, v, a, t)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控制 (Control)                  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PID, MPC 跟踪轨迹 → 油门/刹车/转向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516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行为规划负责离散驾驶决策（如「跟车」「变道」），时间尺度 100ms~1s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9723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运动规划负责连续轨迹生成，时间尺度 10ms~100ms，两者逐级细化衔接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929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43.1.2 关键输入与输出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7813548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定位信息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自车位置、朝向、速度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车道信息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车道中心线、车道宽度、车道类型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车辆、行人、骑行者等动态物体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交通标志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红绿灯、限速牌、停止标志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全局路径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任务规划给出的目标路线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目标行为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FOLLOW_LANE, CHANGE_LEFT, STOP 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目标速度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期望行驶速度 (m/s)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目标车道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变道目标车道索引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104104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行为决策的经典实现是 FSM，七种驾驶状态覆盖常见场景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43.2.1 状态定义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巡航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车道保持，无前车时按限速行驶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检测到前车，保持安全距离和速度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变道左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CHANGE_LEFT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向左变道（超车或绕行）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变道右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CHANGE_RIGHT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向右变道（让行或出口）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红灯、停止线、行人前停车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避障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AVOID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动态/静态障碍物紧急避让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COMPLETE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到达目的地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525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43.1.3 官方要点——分层决策与 FSM 的国际课程范式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731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多伦多大学 Coursera 自动驾驶专项课程与本章分层架构完全对应：mission → behavior →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工程纪律一：每个状态必须显式声明进入/退出条件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7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工程纪律二：转移条件要「非重叠、可穷举」，否则 FSM 会出现不可复现的抖动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27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状态多时行为树可读性更好，但需处理回退（fallback）节点优先级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748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状态转移图直观刻画驾驶行为之间的触发关系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43.2.2 状态转移图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37322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+----------+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+-----------&gt;+  CRUISE  +&lt;-----------+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|            +----+-----+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|                 |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前车接近         绿灯/无障碍         前车切入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|                 |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v                 v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+--------+       +----------+     +-------------+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| FOLLOW +------&gt;+   STOP   +----&gt;+ CHANGE_LEFT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+--------+       +----------+     +-------------+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|                 |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前车消失         红灯/行人           变道完成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|                 |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+------+    +----+-----+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|    |          |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v    v          v            v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+--------+   +-------------+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| CRUISE |   | CHANGE_RIGHT|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+--------+   +-------------+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02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转移图与代码中的转移表一一对应，是评审 FSM 完整性的依据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108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状态转移表把每条转移的条件与动作写死，实现时只需查表分发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43.2.3 状态转移表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当前状态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下一状态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前车距离 &lt; 安全距离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切换至跟车模式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红灯或行人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减速至停止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前车速度过慢且左道可行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CHANGE_LEFT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打左转向灯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前车离开/消失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加速至巡航速度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前车刹车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同步减速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绿灯且无障碍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起步加速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红灯持续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保持停止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CHANGE_LEFT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变道完成/中止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回正方向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AVOID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避让完成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CRUISE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恢复巡航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01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43.2.4 FSM 实现要点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21808"/>
            <a:ext cx="11094415" cy="46542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FsmState(Enum):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CRUISE =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FOLLOW = 2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CHANGE_LEFT = 3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CHANGE_RIGHT = 4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STOP = 5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AVOID = 6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COMPLETE = 7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BehaviorFSM: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self.state = FsmState.CRUISE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self.transition_table = {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FsmState.CRUISE: self._handle_cruise,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FsmState.FOLLOW: self._handle_follow,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FsmState.STOP:   self._handle_stop,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...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update(self, perception):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handler = self.transition_table[self.state]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new_state, cmd = handler(perception)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self.state = new_state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cmd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104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每帧调用 update，按当前状态取对应 handler，返回新状态与驾驶命令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524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用 TrafficLight 对象表达路口灯，API 提供灯色、位置与停止线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43.3.1 CARLA 交通灯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获取影响车辆的下一个交通灯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traffic_light = vehicle.get_traffic_light()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traffic_light is not None: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state = traffic_light.get_state()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carla.TrafficLightState.Red / Yellow / Green / Off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获取交通灯位置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tl_location = traffic_light.get_location()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获取触发交通灯的停止线位置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stop_line = traffic_light.get_stop_waypoints()[0]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932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43.3.3 多路口场景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13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车辆可能同时受多个交通灯影响（多车道、大路口），用交通灯管理器按车道归属筛选：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34456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get_relevant_traffic_light(world, vehicle):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tl_manager = world.get_traffic_light_manager()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affecting_tl = tl_manager.get_affecting_traffic_light(vehicle)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affecting_tl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95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43.3.4 官方要点——CARLA 交通灯 API 的官方细节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5163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get_affected_lane_waypoints() 返回该灯管辖的停止线列表，是「是否受控于该灯」的推荐判定方式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2296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get_green_time() / get_elapsed_time() 用于灯色超时预测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942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官方强调：模拟器不会替你刹车，车辆必须自行查询并遵守灯色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936345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world.get_actors() 过滤 traffic.traffic_light 后按 get_opendrive_id() 与地图对齐，可跨场景复用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369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灯色分类加停止线距离判断，构成完整的红灯停车逻辑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43.3.2 灯色分类与停止线判断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5023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+---------+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| UNKNOWN |  ← 初始化/未检测到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+----+----+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检测到交通灯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v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+-------------+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| APPROACHING |  ← 接近路口，判断灯色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+------+------+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+---------+---------+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|         |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v         v         v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+------+ +--------+ +--------+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| RED  | | YELLOW | | GREEN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+--+---+ +----+---+ +---+----+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|         |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|   黄灯剩余&gt;3s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+----+----+---------+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|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减速停止   匀速通过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v         v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+------+  +--------+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| STOP |  | CRUISE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+------+  +--------+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81088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should_stop_for_traffic_light(vehicle, traffic_light, stop_margin=3.0):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traffic_light is None: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light_state = traffic_light.get_state()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light_state == carla.TrafficLightState.Green: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stop_waypoints = traffic_light.get_stop_waypoints()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not stop_waypoints: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stop_loc = stop_waypoints[0].transform.location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distance = vehicle.get_location().distance(stop_loc)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distance &lt; stop_margin:              # 已到停止线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light_state in [carla.TrafficLightState.Red,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carla.TrafficLightState.Yellow]: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distance &lt; 15.0              # 15 米内需减速停车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725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Traffic Manager 是 CARLA 内置交通流管理模块，一条指令接管车辆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43.4.1 CARLA 内置交通管理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= carla.Client('localhost', 2000)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 = client.get_world()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创建 Traffic Manager 实例（端口参数）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traffic_manager = client.get_trafficmanager(8000)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将车辆交给 TM 控制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vehicle.set_autopilot(True, traffic_manager.get_port())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43.4.5 官方要点——TM 官方架构：阶段流水线与混合物理模式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5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官方文档把 TM 描述为「CARLA 内置的自动驾驶后台」：按定位、碰撞检测、交通灯处理、运动学四个阶段（stages）流水线运行，每个 actor 独立计算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223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大批量背景车辆建议开启「混合物理模式（hybrid physics mode）」：仅 ego 附近全物理仿真、远处用运动学简化，把 CPU 开销压到可用水平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TM 与外部控制器可共存，但同一车辆不能同时被 TM 与 FSM 接管</a:t>
            </a:r>
          </a:p>
        </p:txBody>
      </p:sp>
      <p:pic>
        <p:nvPicPr>
          <p:cNvPr id="13" name="Picture 12" descr="t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880" y="6556248"/>
            <a:ext cx="1875294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774496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Traffic Manager 2 架构图（来源：carla-simulator/carla 官方仓库）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0924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TM 参数可精细调节单车的驾驶风格，激进与保守只是一组参数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43.4.2 核心参数配置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set_desired_speed(vehicle, kmh)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[0, 200]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目标车速 (km/h)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跟车距离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set_distance_to_leading_vehicle(vehicle, dist)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[0.5, 100]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与前车的距离 (m)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闯灯概率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set_ignore_traffic_light_percentage(vehicle, pct)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[0, 100]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忽略红绿灯的百分比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变道偏好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set_lane_change_behavior(vehicle, mode)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0/1/2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0:无变道, 1:左, 2:右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限速忽略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set_ignore_signs_percentage(vehicle, pct)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[0, 100]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忽略限速标志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强行变道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set_force_lane_change(vehicle, enable)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True/False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强制变道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78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43.4.3 配置示例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98848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configure_aggressive_driver(traffic_manager, vehicle):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traffic_manager.set_desired_speed(vehicle, 80.0)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traffic_manager.set_distance_to_leading_vehicle(vehicle, 2.0)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traffic_manager.set_ignore_traffic_light_percentage(vehicle, 20.0)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traffic_manager.set_ignore_signs_percentage(vehicle, 10.0)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traffic_manager.set_lane_change_behavior(vehicle, 2)  # 右道优先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configure_conservative_driver(traffic_manager, vehicle):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traffic_manager.set_desired_speed(vehicle, 50.0)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traffic_manager.set_distance_to_leading_vehicle(vehicle, 8.0)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traffic_manager.set_ignore_traffic_light_percentage(vehicle, 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traffic_manager.set_ignore_signs_percentage(vehicle, 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traffic_manager.set_lane_change_behavior(vehicle, 1)  # 左道优先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70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TM 常用于背景交通流（批量控制多辆车）；自车行为用自定义 FSM 精细控制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891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内置 TM 与自定义 FSM 各司其职：背景流交给 TM，自车用 FSM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43.4.4 TM 与自定义 FSM 的关系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+---------------------+         +------------------------+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Traffic Manager    |         |  自定义 FSM 节点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(内置驾驶策略)      |         |  (ROS2 Behavior Node)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+---------------------+         +------------------------+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- 巡航/跟车         |         |  - 复杂场景决策  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- 红绿灯响应        |         |  - 变道超车策略  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- 限速适应          |         |  - 行人横穿检测 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- 简单避障          |         |  - 紧急避让     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+---------------------+         +------------------------+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常用于背景交通流    |         |  常用于自车行为控制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批量控制多辆车      |         |  精细控制单车辆      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+---------------------+         +------------------------+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932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边界条件：同一车辆同时只能被 TM 或 FSM 一方接管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13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Scenario Runner 把「场景脚本 + 被测算法 + 判据」三层解耦，可测内置也可测自定义场景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43.5.1 场景测试框架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               Scenario Runner                  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+--------------+  +-------------+  +------------+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Scenario     |  | Agent       |  | Evaluation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定义场景    |  | 被测算法    |  | 性能评估  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- 初始条件  |  | - 行为决策  |  | - 碰撞    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- 触发条件  |  | - 运动规划  |  | - 红绿灯  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- 终止条件  |  | - 控制      |  | - 路线    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+--------------+  +-------------+  +------------+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|   OpenScenario 1.0 / 自定义 Python 场景       |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+----------------------------------------------------+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↓                      ↓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+------------------+   +------------------+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CARLA Simulator |   |  ROS2 / Autoware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|  环境与物理引擎  |   |  自动驾驶系统    |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+------------------+   +------------------+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140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43.5.2 内置场景类型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623468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描述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典型测试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FollowLeadingVehicle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前车匀速/减速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跟车响应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VehicleTurningRight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前车右转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转弯让行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CrossPedestrian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行人横穿马路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紧急制动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CutIn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旁车切入本车道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避让决策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DynamicObjectCross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动态物体横穿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综合避障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TrafficLightScenario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红绿灯场景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信号灯响应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82829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自定义场景 = 行为树（触发 + 动作）+ 判据，两例覆盖典型险情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43.5.3 自定义场景：行人横穿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42854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PedestrianCrossing(BasicScenario):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_initialize_actors(self, config):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pedestrian_loc = self._get_spawn_point()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pedestrian_blueprint = 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self._world.get_blueprint_library().find("walker.pedestrian.*")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self._pedestrian = self._world.spawn_actor(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pedestrian_blueprint, pedestrian_loc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self.other_actors.append(self._pedestrian)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_create_behavior(self):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 = py_trees.composites.Sequence("PedestrianBehavior")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approach = WaypointReached(self.ego_vehicles[0], self._trigger_point, 5.0)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cross = CrossPedestrian(self._pedestrian, self._target_point)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root.add_child(approach)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root.add_child(cross)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root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_create_test_criteria(self):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collision_criterion = CollisionTest(self.ego_vehicles[0])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[collision_criterion]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7360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43.5.4 自定义场景：前车切入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156704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CutInScenario(BasicScenario):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_create_behavior(self):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 = py_trees.composites.Sequence("CutInBehavior")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wait = DriveDistance(self._cutting_vehicle, 30.0)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cut_in = ChangeLane(self._cutting_vehicle, direction="left",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target_lane_id=self._target_lane)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brake = BrakeVehicle(self._cutting_vehicle, 0.7)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root.add_child(wait)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root.add_child(cut_in)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root.add_child(brake)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root</a:t>
            </a:r>
          </a:p>
        </p:txBody>
      </p:sp>
      <p:pic>
        <p:nvPicPr>
          <p:cNvPr id="11" name="Picture 10" descr="osc_storyboard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77" y="9726168"/>
            <a:ext cx="116390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109148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OpenSCENARIO 故事板（storyboard）中场景触发与动作的编排示意（来源：carla-simulator/scenario_runner 官方仓库）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262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一条命令运行内置或自定义场景；OpenSCENARIO 标准让场景跨仿真器可移植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43.5.5 运行场景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运行内置场景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cd ~/carla/PythonAPI/scenario_runner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python scenario_runner.py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--scenario FollowLeadingVehicle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--reloadWorld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--agent agent.py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运行自定义场景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python scenario_runner.py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--scenario PedestrianCrossing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--scenario-config configs/my_scenario.xml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--reloadWorld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932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43.5.6 官方要点——Scenario Runner 与 OpenSCENARIO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 srunner 示例（FollowLeadingVehicle、TrafficLightScenario 等）正是 43.5.2 内置场景的来源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官方支持 ASAM OpenSCENARIO 1.x 标准：--openscenario 参数直接运行 .xosc 文件，自定义场景可写成跨仿真器可移植的标准 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525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工程建议：把场景库纳入回归测试（CI 中每次跑全量场景），让「交通规则遵守率」成为可持续度量的指标</a:t>
            </a:r>
          </a:p>
        </p:txBody>
      </p:sp>
      <p:pic>
        <p:nvPicPr>
          <p:cNvPr id="13" name="Picture 12" descr="osc_cat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056" y="8238744"/>
            <a:ext cx="810942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942746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OpenSCENARIO 目录（catalogs）组织场景资源的示例（来源：carla-simulator/scenario_runner 官方仓库）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9774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按「决策 → 交通规则 → 背景流 → 场景测试」主线总结本章结论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本章要点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行为决策是分层架构的中间层：上接任务规划、下连运动规划与控制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FSM 状态定义清晰、转移直观，转移条件必须「非重叠、可穷举」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交通灯响应 = 灯色识别 + 停止线距离判断，CARLA 提供完整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Traffic Manager 适合批量控制背景交通流，参数即可调出驾驶风格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混合物理模式只在 ego 附近全物理仿真，可大幅压低 CPU 开销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Scenario Runner 支持内置场景与 OpenSCENARIO 自定义场景，是回归测试的载体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31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以架构理解、FSM 实现与仿真验证为主线设计练习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练习题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画出分层决策架构流程，说明行为规划与运动规划的时间尺度差异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FSM 的状态转移条件为什么要求「非重叠、可穷举」？请举例说明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如何用 CARLA API 判断车辆是否应在交通灯前停止？关键步骤有哪些？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Traffic Manager 如何配置激进/保守驾驶风格？其「混合物理模式」解决了什么问题？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在 Scenario Runner 中自定义「行人横穿」场景，需要实现哪三个核心方法？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行为决策与交通规则（P17）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行为决策与交通规则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下一章把决策与仿真成果纳入安全验证与系统集成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下章预告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44 章将转入系统级视角：安全验证方法与系统集成实践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敬请期待：如何用仿真场景验证整个自动驾驶系统的安全性与可靠性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